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86" r:id="rId4"/>
  </p:sldMasterIdLst>
  <p:notesMasterIdLst>
    <p:notesMasterId r:id="rId23"/>
  </p:notesMasterIdLst>
  <p:handoutMasterIdLst>
    <p:handoutMasterId r:id="rId24"/>
  </p:handoutMasterIdLst>
  <p:sldIdLst>
    <p:sldId id="337" r:id="rId5"/>
    <p:sldId id="350" r:id="rId6"/>
    <p:sldId id="13005" r:id="rId7"/>
    <p:sldId id="13008" r:id="rId8"/>
    <p:sldId id="13006" r:id="rId9"/>
    <p:sldId id="12996" r:id="rId10"/>
    <p:sldId id="13007" r:id="rId11"/>
    <p:sldId id="13003" r:id="rId12"/>
    <p:sldId id="339" r:id="rId13"/>
    <p:sldId id="13012" r:id="rId14"/>
    <p:sldId id="13017" r:id="rId15"/>
    <p:sldId id="13018" r:id="rId16"/>
    <p:sldId id="13019" r:id="rId17"/>
    <p:sldId id="13020" r:id="rId18"/>
    <p:sldId id="13021" r:id="rId19"/>
    <p:sldId id="13022" r:id="rId20"/>
    <p:sldId id="346" r:id="rId21"/>
    <p:sldId id="12982" r:id="rId22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7CD8484-9767-4D0B-B4B2-CE03A5C8172A}">
          <p14:sldIdLst>
            <p14:sldId id="337"/>
            <p14:sldId id="350"/>
            <p14:sldId id="13005"/>
            <p14:sldId id="13008"/>
            <p14:sldId id="13006"/>
            <p14:sldId id="12996"/>
            <p14:sldId id="13007"/>
            <p14:sldId id="13003"/>
            <p14:sldId id="339"/>
            <p14:sldId id="13012"/>
            <p14:sldId id="13017"/>
            <p14:sldId id="13018"/>
            <p14:sldId id="13019"/>
            <p14:sldId id="13020"/>
            <p14:sldId id="13021"/>
            <p14:sldId id="13022"/>
            <p14:sldId id="346"/>
            <p14:sldId id="129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70C0"/>
    <a:srgbClr val="4472C4"/>
    <a:srgbClr val="00A5D7"/>
    <a:srgbClr val="FFFFCC"/>
    <a:srgbClr val="D6D6D6"/>
    <a:srgbClr val="D8D8D8"/>
    <a:srgbClr val="A6A6A6"/>
    <a:srgbClr val="0861B5"/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317" autoAdjust="0"/>
  </p:normalViewPr>
  <p:slideViewPr>
    <p:cSldViewPr snapToGrid="0">
      <p:cViewPr varScale="1">
        <p:scale>
          <a:sx n="72" d="100"/>
          <a:sy n="72" d="100"/>
        </p:scale>
        <p:origin x="151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58CBAD0-DBE5-47CD-A939-9E79F999D4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AA2809-8CEC-4328-9C06-D69A5A0F53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95ABA-E40F-4117-9CDB-ADB56947878C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C0A21D-0CF5-48AD-AA86-4399F71E6B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F40B81-B025-4CF1-B39A-515D73E7EF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8143A-92B8-4F20-9951-6E0FDFF7F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0961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AB5F0-420A-4550-9CBC-46CFD46CD67D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2DFB2-20CC-4D20-AA5B-C3685A3179E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슬라이드 번호 개체 틀 6">
            <a:extLst>
              <a:ext uri="{FF2B5EF4-FFF2-40B4-BE49-F238E27FC236}">
                <a16:creationId xmlns:a16="http://schemas.microsoft.com/office/drawing/2014/main" id="{6ADD5285-87ED-4F19-9492-EBEAEE9A2FC6}"/>
              </a:ext>
            </a:extLst>
          </p:cNvPr>
          <p:cNvSpPr txBox="1">
            <a:spLocks/>
          </p:cNvSpPr>
          <p:nvPr/>
        </p:nvSpPr>
        <p:spPr>
          <a:xfrm>
            <a:off x="2662423" y="403442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22DFB2-20CC-4D20-AA5B-C3685A3179E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5437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2DFB2-20CC-4D20-AA5B-C3685A3179EA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535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연차 별 개발 목표와 본 세부과제의 정량적 목표</a:t>
            </a:r>
            <a:r>
              <a:rPr lang="en-US" altLang="ko-KR" dirty="0"/>
              <a:t>, </a:t>
            </a:r>
            <a:r>
              <a:rPr lang="ko-KR" altLang="en-US" dirty="0"/>
              <a:t>당사의 진행 사항 및 스케쥴 및 계획 순으로 발표하겠습니다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2DFB2-20CC-4D20-AA5B-C3685A3179E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950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2DFB2-20CC-4D20-AA5B-C3685A3179E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165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2DFB2-20CC-4D20-AA5B-C3685A3179E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536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2DFB2-20CC-4D20-AA5B-C3685A3179E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57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2DFB2-20CC-4D20-AA5B-C3685A3179E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450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277BF86-BF72-A249-92BD-B90F9052A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FE8B400-E7EA-423A-BAB2-5EF95A412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877" y="266994"/>
            <a:ext cx="8648270" cy="923330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650" b="0" i="0" kern="1200" dirty="0">
                <a:solidFill>
                  <a:srgbClr val="FFFFFF"/>
                </a:solidFill>
                <a:latin typeface="Noto Sans Korean Light" panose="020B0300000000000000" pitchFamily="34" charset="-128"/>
                <a:ea typeface="Noto Sans Korean Light" panose="020B0300000000000000" pitchFamily="34" charset="-128"/>
                <a:cs typeface="+mn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9" name="부제목 2">
            <a:extLst>
              <a:ext uri="{FF2B5EF4-FFF2-40B4-BE49-F238E27FC236}">
                <a16:creationId xmlns:a16="http://schemas.microsoft.com/office/drawing/2014/main" id="{7EEDB4A8-B078-4DCE-B98A-40BA1C5A7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877" y="1226396"/>
            <a:ext cx="5449447" cy="34624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ko-Kore-KR" altLang="en-US" sz="1650" b="0" i="0" kern="1200" dirty="0">
                <a:solidFill>
                  <a:srgbClr val="FFFFFF"/>
                </a:solidFill>
                <a:latin typeface="Noto Sans Korean Light" panose="020B0300000000000000" pitchFamily="34" charset="-128"/>
                <a:ea typeface="Noto Sans Korean Light" panose="020B0300000000000000" pitchFamily="34" charset="-128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9" name="텍스트 개체 틀 13">
            <a:extLst>
              <a:ext uri="{FF2B5EF4-FFF2-40B4-BE49-F238E27FC236}">
                <a16:creationId xmlns:a16="http://schemas.microsoft.com/office/drawing/2014/main" id="{F14D8FA8-773E-7748-90F0-4DAC33CBD3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01677" y="6168186"/>
            <a:ext cx="6125752" cy="33855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kumimoji="1" lang="ko-KR" altLang="en-US" sz="1300" b="0" i="0" kern="1200" dirty="0" smtClean="0">
                <a:solidFill>
                  <a:srgbClr val="FFFFFF"/>
                </a:solidFill>
                <a:latin typeface="Noto Sans Korean Regular" panose="020B0400000000000000" pitchFamily="34" charset="-128"/>
                <a:ea typeface="Noto Sans Korean Regular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텍스트 개체 틀 13">
            <a:extLst>
              <a:ext uri="{FF2B5EF4-FFF2-40B4-BE49-F238E27FC236}">
                <a16:creationId xmlns:a16="http://schemas.microsoft.com/office/drawing/2014/main" id="{85E2512F-8E9F-3F4D-AF66-15DE2F787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01677" y="5955724"/>
            <a:ext cx="6125752" cy="33855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kumimoji="1" lang="ko-KR" altLang="en-US" sz="1300" b="0" i="0" kern="1200" dirty="0" smtClean="0">
                <a:solidFill>
                  <a:srgbClr val="FFFFFF"/>
                </a:solidFill>
                <a:latin typeface="Noto Sans Korean Regular" panose="020B0400000000000000" pitchFamily="34" charset="-128"/>
                <a:ea typeface="Noto Sans Korean Regular" panose="020B0400000000000000" pitchFamily="34" charset="-128"/>
                <a:cs typeface="+mn-cs"/>
              </a:defRPr>
            </a:lvl1pPr>
          </a:lstStyle>
          <a:p>
            <a:pPr lvl="0"/>
            <a:r>
              <a:rPr lang="en-US" altLang="ko-KR"/>
              <a:t>12/21/21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29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F03C10-A78F-B243-A17F-4FDB330A85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FFB68D75-AF67-4525-83D0-EF23A3B4C8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01677" y="6168186"/>
            <a:ext cx="6125752" cy="33855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kumimoji="1" lang="ko-KR" altLang="en-US" sz="1300" b="0" i="0" kern="1200" dirty="0" smtClean="0">
                <a:solidFill>
                  <a:srgbClr val="FFFFFF"/>
                </a:solidFill>
                <a:latin typeface="Noto Sans Korean Regular" panose="020B0400000000000000" pitchFamily="34" charset="-128"/>
                <a:ea typeface="Noto Sans Korean Regular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텍스트 개체 틀 13">
            <a:extLst>
              <a:ext uri="{FF2B5EF4-FFF2-40B4-BE49-F238E27FC236}">
                <a16:creationId xmlns:a16="http://schemas.microsoft.com/office/drawing/2014/main" id="{43F34567-7183-B44A-96F1-D12C18C8D3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01677" y="5955724"/>
            <a:ext cx="6125752" cy="33855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kumimoji="1" lang="ko-KR" altLang="en-US" sz="1300" b="0" i="0" kern="1200" dirty="0" smtClean="0">
                <a:solidFill>
                  <a:srgbClr val="FFFFFF"/>
                </a:solidFill>
                <a:latin typeface="Noto Sans Korean Regular" panose="020B0400000000000000" pitchFamily="34" charset="-128"/>
                <a:ea typeface="Noto Sans Korean Regular" panose="020B0400000000000000" pitchFamily="34" charset="-128"/>
                <a:cs typeface="+mn-cs"/>
              </a:defRPr>
            </a:lvl1pPr>
          </a:lstStyle>
          <a:p>
            <a:pPr lvl="0"/>
            <a:r>
              <a:rPr lang="en-US" altLang="ko-KR"/>
              <a:t>12/21/21</a:t>
            </a:r>
            <a:endParaRPr lang="ko-KR" altLang="en-US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9881A5C-AAB7-2748-B7A6-F282371CC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877" y="266994"/>
            <a:ext cx="8648270" cy="923330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650" b="0" i="0" kern="1200" dirty="0">
                <a:solidFill>
                  <a:srgbClr val="0860B5"/>
                </a:solidFill>
                <a:latin typeface="Noto Sans Korean Light" panose="020B0300000000000000" pitchFamily="34" charset="-128"/>
                <a:ea typeface="Noto Sans Korean Light" panose="020B0300000000000000" pitchFamily="34" charset="-128"/>
                <a:cs typeface="+mn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184CEDEB-F54E-3E4F-9B52-31809F786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877" y="1226396"/>
            <a:ext cx="5449447" cy="34624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ko-Kore-KR" altLang="en-US" sz="1650" b="0" i="0" kern="1200" dirty="0">
                <a:solidFill>
                  <a:srgbClr val="0860B5"/>
                </a:solidFill>
                <a:latin typeface="Noto Sans Korean Light" panose="020B0300000000000000" pitchFamily="34" charset="-128"/>
                <a:ea typeface="Noto Sans Korean Light" panose="020B0300000000000000" pitchFamily="34" charset="-128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3876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CBD32E8-70C2-3D47-8E26-29ECB0104A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19" name="텍스트 개체 틀 7">
            <a:extLst>
              <a:ext uri="{FF2B5EF4-FFF2-40B4-BE49-F238E27FC236}">
                <a16:creationId xmlns:a16="http://schemas.microsoft.com/office/drawing/2014/main" id="{F822F19E-F991-496B-8277-6BF805F698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5659" y="3071683"/>
            <a:ext cx="3704860" cy="1344612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/>
              <a:defRPr kumimoji="1" lang="ko-KR" altLang="en-US" sz="1200" b="0" i="0" kern="1200" dirty="0">
                <a:solidFill>
                  <a:srgbClr val="0860B5"/>
                </a:solidFill>
                <a:latin typeface="Noto Sans Korean Regular" panose="020B0400000000000000" pitchFamily="34" charset="-128"/>
                <a:ea typeface="Noto Sans Korean Regular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43C2EC2E-2E5C-48D1-9BB1-7F2D3A08C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529" y="583324"/>
            <a:ext cx="6050871" cy="461665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1800" b="0" i="0" kern="1200" dirty="0">
                <a:solidFill>
                  <a:srgbClr val="0860B5"/>
                </a:solidFill>
                <a:latin typeface="Noto Sans Korean Regular" panose="020B0500000000000000" pitchFamily="34" charset="-128"/>
                <a:ea typeface="Noto Sans Korean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35787E21-28E5-4495-A227-A1BCA88A8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492875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8B113C4-B834-4BEA-901C-8797A7F9089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09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BC643D5-2324-F347-A120-9AA9C2FC3E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텍스트 개체 틀 7">
            <a:extLst>
              <a:ext uri="{FF2B5EF4-FFF2-40B4-BE49-F238E27FC236}">
                <a16:creationId xmlns:a16="http://schemas.microsoft.com/office/drawing/2014/main" id="{9855CC99-0E44-214A-8380-C2D13AA87F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5659" y="3071683"/>
            <a:ext cx="3704860" cy="1344612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/>
              <a:defRPr kumimoji="1" lang="ko-KR" altLang="en-US" sz="1200" b="0" i="0" kern="1200" dirty="0">
                <a:solidFill>
                  <a:srgbClr val="0860B5"/>
                </a:solidFill>
                <a:latin typeface="Noto Sans Korean Regular" panose="020B0400000000000000" pitchFamily="34" charset="-128"/>
                <a:ea typeface="Noto Sans Korean Regular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B6ED87A-342E-D647-B686-0540F90C7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529" y="583324"/>
            <a:ext cx="6050871" cy="461665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1800" b="0" i="0" kern="1200" dirty="0">
                <a:solidFill>
                  <a:srgbClr val="0860B5"/>
                </a:solidFill>
                <a:latin typeface="Noto Sans Korean Regular" panose="020B0500000000000000" pitchFamily="34" charset="-128"/>
                <a:ea typeface="Noto Sans Korean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63D074-D4DD-4911-8226-53D65147B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492875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8B113C4-B834-4BEA-901C-8797A7F9089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03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1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7FD510-B72A-4E47-8A33-874A0E0FCB3B}"/>
              </a:ext>
            </a:extLst>
          </p:cNvPr>
          <p:cNvSpPr/>
          <p:nvPr userDrawn="1"/>
        </p:nvSpPr>
        <p:spPr>
          <a:xfrm>
            <a:off x="0" y="0"/>
            <a:ext cx="9906000" cy="683978"/>
          </a:xfrm>
          <a:prstGeom prst="rect">
            <a:avLst/>
          </a:prstGeom>
          <a:solidFill>
            <a:srgbClr val="CCDFF1"/>
          </a:solidFill>
          <a:ln>
            <a:solidFill>
              <a:srgbClr val="CCDF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텍스트 개체 틀 7">
            <a:extLst>
              <a:ext uri="{FF2B5EF4-FFF2-40B4-BE49-F238E27FC236}">
                <a16:creationId xmlns:a16="http://schemas.microsoft.com/office/drawing/2014/main" id="{2393D055-182E-4180-8F0C-FB94E8B60A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307" y="936626"/>
            <a:ext cx="9367308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000" b="0" i="0" kern="1200" dirty="0">
                <a:solidFill>
                  <a:srgbClr val="005EB8"/>
                </a:solidFill>
                <a:latin typeface="Noto Sans Korean Regular" panose="020B0500000000000000" pitchFamily="34" charset="-128"/>
                <a:ea typeface="Noto Sans Korean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91FC4EB9-6390-4817-81B4-97EBDE16F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1200" b="0" i="0" kern="1200" dirty="0">
                <a:solidFill>
                  <a:srgbClr val="005EB8"/>
                </a:solidFill>
                <a:latin typeface="Noto Sans Korean Regular" panose="020B0500000000000000" pitchFamily="34" charset="-128"/>
                <a:ea typeface="Noto Sans Korean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34620688-F169-4C7A-B07C-C1A84C737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990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E8B113C4-B834-4BEA-901C-8797A7F9089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60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1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6A00B4C-BE94-4E6D-82FD-2A60CAABAE19}"/>
              </a:ext>
            </a:extLst>
          </p:cNvPr>
          <p:cNvCxnSpPr/>
          <p:nvPr userDrawn="1"/>
        </p:nvCxnSpPr>
        <p:spPr>
          <a:xfrm>
            <a:off x="0" y="684000"/>
            <a:ext cx="990600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7">
            <a:extLst>
              <a:ext uri="{FF2B5EF4-FFF2-40B4-BE49-F238E27FC236}">
                <a16:creationId xmlns:a16="http://schemas.microsoft.com/office/drawing/2014/main" id="{E49EEEAA-333B-FF43-9481-CB7BE68530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307" y="936626"/>
            <a:ext cx="9367308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000" b="0" i="0" kern="1200" dirty="0">
                <a:solidFill>
                  <a:srgbClr val="005EB8"/>
                </a:solidFill>
                <a:latin typeface="Noto Sans Korean Regular" panose="020B0500000000000000" pitchFamily="34" charset="-128"/>
                <a:ea typeface="Noto Sans Korean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78A01E9-C1F5-0E40-9DCD-B6A7A052F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1200" b="0" i="0" kern="1200" dirty="0">
                <a:solidFill>
                  <a:srgbClr val="005EB8"/>
                </a:solidFill>
                <a:latin typeface="Noto Sans Korean Regular" panose="020B0500000000000000" pitchFamily="34" charset="-128"/>
                <a:ea typeface="Noto Sans Korean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E6689AF7-5054-4FFC-9272-B5068A91E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990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E8B113C4-B834-4BEA-901C-8797A7F9089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025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2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0D3DF8A-7ED2-49D4-9A35-6FBD5B4256D6}"/>
              </a:ext>
            </a:extLst>
          </p:cNvPr>
          <p:cNvSpPr/>
          <p:nvPr userDrawn="1"/>
        </p:nvSpPr>
        <p:spPr>
          <a:xfrm>
            <a:off x="0" y="0"/>
            <a:ext cx="9906000" cy="683978"/>
          </a:xfrm>
          <a:prstGeom prst="rect">
            <a:avLst/>
          </a:prstGeom>
          <a:solidFill>
            <a:srgbClr val="CCEDF7"/>
          </a:solidFill>
          <a:ln>
            <a:solidFill>
              <a:srgbClr val="CCDF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텍스트 개체 틀 7">
            <a:extLst>
              <a:ext uri="{FF2B5EF4-FFF2-40B4-BE49-F238E27FC236}">
                <a16:creationId xmlns:a16="http://schemas.microsoft.com/office/drawing/2014/main" id="{9627BF4C-91D7-4AE1-96FE-BAA7183D68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307" y="936626"/>
            <a:ext cx="9367308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000" b="0" i="0" kern="1200" dirty="0">
                <a:solidFill>
                  <a:srgbClr val="00A5D7"/>
                </a:solidFill>
                <a:latin typeface="Noto Sans Korean Regular" panose="020B0500000000000000" pitchFamily="34" charset="-128"/>
                <a:ea typeface="Noto Sans Korean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2D468F03-9527-48A1-9BAC-6AE7029C1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1200" b="0" i="0" kern="1200" dirty="0">
                <a:solidFill>
                  <a:srgbClr val="00A5D7"/>
                </a:solidFill>
                <a:latin typeface="Noto Sans Korean Regular" panose="020B0500000000000000" pitchFamily="34" charset="-128"/>
                <a:ea typeface="Noto Sans Korean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B0A8B21-E746-4DF9-B229-DCC6DE332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990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E8B113C4-B834-4BEA-901C-8797A7F9089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079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2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E49A75D-DD4B-4550-BFF0-C662ADCA6DA2}"/>
              </a:ext>
            </a:extLst>
          </p:cNvPr>
          <p:cNvCxnSpPr/>
          <p:nvPr userDrawn="1"/>
        </p:nvCxnSpPr>
        <p:spPr>
          <a:xfrm>
            <a:off x="0" y="684000"/>
            <a:ext cx="9906000" cy="0"/>
          </a:xfrm>
          <a:prstGeom prst="line">
            <a:avLst/>
          </a:prstGeom>
          <a:ln w="19050">
            <a:solidFill>
              <a:srgbClr val="00A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7">
            <a:extLst>
              <a:ext uri="{FF2B5EF4-FFF2-40B4-BE49-F238E27FC236}">
                <a16:creationId xmlns:a16="http://schemas.microsoft.com/office/drawing/2014/main" id="{A165CAB2-A612-F346-8E27-C8C91C61DF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307" y="936626"/>
            <a:ext cx="9367308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000" b="0" i="0" kern="1200" dirty="0">
                <a:solidFill>
                  <a:srgbClr val="00A5D7"/>
                </a:solidFill>
                <a:latin typeface="Noto Sans Korean Regular" panose="020B0500000000000000" pitchFamily="34" charset="-128"/>
                <a:ea typeface="Noto Sans Korean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3563A63-09D7-FD46-AC17-4825F1E5A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1200" b="0" i="0" kern="1200" dirty="0">
                <a:solidFill>
                  <a:srgbClr val="00A5D7"/>
                </a:solidFill>
                <a:latin typeface="Noto Sans Korean Regular" panose="020B0500000000000000" pitchFamily="34" charset="-128"/>
                <a:ea typeface="Noto Sans Korean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355AD182-E5FA-4A11-BD91-B3BB4D6E2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990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E8B113C4-B834-4BEA-901C-8797A7F9089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415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3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FE0B872-006E-4460-8158-BAFE839241EB}"/>
              </a:ext>
            </a:extLst>
          </p:cNvPr>
          <p:cNvSpPr/>
          <p:nvPr userDrawn="1"/>
        </p:nvSpPr>
        <p:spPr>
          <a:xfrm>
            <a:off x="0" y="0"/>
            <a:ext cx="9906000" cy="683978"/>
          </a:xfrm>
          <a:prstGeom prst="rect">
            <a:avLst/>
          </a:prstGeom>
          <a:solidFill>
            <a:srgbClr val="CCEFE6"/>
          </a:solidFill>
          <a:ln>
            <a:solidFill>
              <a:srgbClr val="CCDF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텍스트 개체 틀 7">
            <a:extLst>
              <a:ext uri="{FF2B5EF4-FFF2-40B4-BE49-F238E27FC236}">
                <a16:creationId xmlns:a16="http://schemas.microsoft.com/office/drawing/2014/main" id="{02464194-3822-43C1-BE6B-B2417EA5C7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307" y="936626"/>
            <a:ext cx="9367308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000" b="0" i="0" kern="1200" dirty="0">
                <a:solidFill>
                  <a:srgbClr val="00AD83"/>
                </a:solidFill>
                <a:latin typeface="Noto Sans Korean Regular" panose="020B0500000000000000" pitchFamily="34" charset="-128"/>
                <a:ea typeface="Noto Sans Korean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E3B5490C-F206-42F5-87DB-BFDEC8476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1200" b="0" i="0" kern="1200" dirty="0">
                <a:solidFill>
                  <a:srgbClr val="00AD83"/>
                </a:solidFill>
                <a:latin typeface="Noto Sans Korean Regular" panose="020B0500000000000000" pitchFamily="34" charset="-128"/>
                <a:ea typeface="Noto Sans Korean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9D3621-085E-4760-9E36-BD6BBD924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990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E8B113C4-B834-4BEA-901C-8797A7F9089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05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3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1212FE5-D08D-4D5C-ABB5-0F9DEC6C4D77}"/>
              </a:ext>
            </a:extLst>
          </p:cNvPr>
          <p:cNvCxnSpPr/>
          <p:nvPr userDrawn="1"/>
        </p:nvCxnSpPr>
        <p:spPr>
          <a:xfrm>
            <a:off x="0" y="684000"/>
            <a:ext cx="9906000" cy="0"/>
          </a:xfrm>
          <a:prstGeom prst="line">
            <a:avLst/>
          </a:prstGeom>
          <a:ln w="19050">
            <a:solidFill>
              <a:srgbClr val="00AD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C748963-8F37-DE45-844F-0A6F9BD2DE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307" y="936626"/>
            <a:ext cx="9367308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000" b="0" i="0" kern="1200" dirty="0">
                <a:solidFill>
                  <a:srgbClr val="00AD83"/>
                </a:solidFill>
                <a:latin typeface="Noto Sans Korean Regular" panose="020B0500000000000000" pitchFamily="34" charset="-128"/>
                <a:ea typeface="Noto Sans Korean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A7C48AC0-E43F-9C4B-A8A6-F3B18E73D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ko-Kore-KR" altLang="en-US" sz="1200" b="0" i="0" kern="1200" dirty="0">
                <a:solidFill>
                  <a:srgbClr val="00AD83"/>
                </a:solidFill>
                <a:latin typeface="Noto Sans Korean Regular" panose="020B0500000000000000" pitchFamily="34" charset="-128"/>
                <a:ea typeface="Noto Sans Korean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AC271C-7523-4A34-80B6-47906AFD7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990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E8B113C4-B834-4BEA-901C-8797A7F9089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062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560E6F00-83DA-4E7D-874B-BE1EE3F07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990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E8B113C4-B834-4BEA-901C-8797A7F9089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4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70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90" r:id="rId3"/>
    <p:sldLayoutId id="2147483691" r:id="rId4"/>
    <p:sldLayoutId id="2147483692" r:id="rId5"/>
    <p:sldLayoutId id="2147483696" r:id="rId6"/>
    <p:sldLayoutId id="2147483693" r:id="rId7"/>
    <p:sldLayoutId id="2147483697" r:id="rId8"/>
    <p:sldLayoutId id="2147483694" r:id="rId9"/>
    <p:sldLayoutId id="2147483698" r:id="rId10"/>
    <p:sldLayoutId id="2147483695" r:id="rId11"/>
  </p:sldLayoutIdLst>
  <p:hf hdr="0" dt="0"/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B6421F-CAE9-400E-9445-A5AF32A83B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389" y="5961507"/>
            <a:ext cx="6125752" cy="338554"/>
          </a:xfrm>
        </p:spPr>
        <p:txBody>
          <a:bodyPr/>
          <a:lstStyle/>
          <a:p>
            <a:endParaRPr lang="en-US" altLang="ko-KR" sz="1400" b="1" dirty="0"/>
          </a:p>
          <a:p>
            <a:r>
              <a:rPr lang="ko-KR" altLang="en-US" sz="1400" b="1" dirty="0"/>
              <a:t>일시 </a:t>
            </a:r>
            <a:r>
              <a:rPr lang="en-US" altLang="ko-KR" sz="1400" b="1"/>
              <a:t>: 2026. 09. 16 (</a:t>
            </a:r>
            <a:r>
              <a:rPr lang="ko-KR" altLang="en-US" sz="1400" b="1" dirty="0"/>
              <a:t>수</a:t>
            </a:r>
            <a:r>
              <a:rPr lang="en-US" altLang="ko-KR" sz="1400" b="1"/>
              <a:t>)</a:t>
            </a:r>
            <a:endParaRPr lang="ko-KR" altLang="en-US" sz="1400" b="1" dirty="0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CF5D3829-D03B-4BD0-BD03-046B360CA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48527"/>
            <a:ext cx="9906000" cy="923330"/>
          </a:xfrm>
        </p:spPr>
        <p:txBody>
          <a:bodyPr/>
          <a:lstStyle/>
          <a:p>
            <a:pPr algn="ctr"/>
            <a:r>
              <a:rPr lang="en-US" altLang="ko-KR" sz="2800" b="1">
                <a:latin typeface="Noto Sans KR" panose="020B0500000000000000" pitchFamily="34" charset="-127"/>
                <a:ea typeface="Noto Sans KR" panose="020B0500000000000000" pitchFamily="34" charset="-127"/>
              </a:rPr>
              <a:t>(3</a:t>
            </a:r>
            <a:r>
              <a:rPr lang="ko-KR" altLang="en-US" sz="2800" b="1">
                <a:latin typeface="Noto Sans KR" panose="020B0500000000000000" pitchFamily="34" charset="-127"/>
                <a:ea typeface="Noto Sans KR" panose="020B0500000000000000" pitchFamily="34" charset="-127"/>
              </a:rPr>
              <a:t>세부</a:t>
            </a:r>
            <a:r>
              <a:rPr lang="en-US" altLang="ko-KR" sz="2800" b="1">
                <a:latin typeface="Noto Sans KR" panose="020B0500000000000000" pitchFamily="34" charset="-127"/>
                <a:ea typeface="Noto Sans KR" panose="020B0500000000000000" pitchFamily="34" charset="-127"/>
              </a:rPr>
              <a:t>) </a:t>
            </a:r>
            <a:r>
              <a:rPr lang="ko-KR" altLang="en-US" sz="2800" b="1">
                <a:latin typeface="Noto Sans KR" panose="020B0500000000000000" pitchFamily="34" charset="-127"/>
                <a:ea typeface="Noto Sans KR" panose="020B0500000000000000" pitchFamily="34" charset="-127"/>
              </a:rPr>
              <a:t>고출력</a:t>
            </a:r>
            <a:r>
              <a:rPr lang="en-US" altLang="ko-KR" sz="2800" b="1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2800" b="1">
                <a:latin typeface="Noto Sans KR" panose="020B0500000000000000" pitchFamily="34" charset="-127"/>
                <a:ea typeface="Noto Sans KR" panose="020B0500000000000000" pitchFamily="34" charset="-127"/>
              </a:rPr>
              <a:t>광대역 특성을 갖는 레이돔 일체형 위성 통신</a:t>
            </a:r>
            <a:br>
              <a:rPr lang="en-US" altLang="ko-KR" sz="2800" b="1">
                <a:latin typeface="Noto Sans KR" panose="020B0500000000000000" pitchFamily="34" charset="-127"/>
                <a:ea typeface="Noto Sans KR" panose="020B0500000000000000" pitchFamily="34" charset="-127"/>
              </a:rPr>
            </a:br>
            <a:r>
              <a:rPr lang="ko-KR" altLang="en-US" sz="2800" b="1">
                <a:latin typeface="Noto Sans KR" panose="020B0500000000000000" pitchFamily="34" charset="-127"/>
                <a:ea typeface="Noto Sans KR" panose="020B0500000000000000" pitchFamily="34" charset="-127"/>
              </a:rPr>
              <a:t>지상 단말국용 빔조향 송</a:t>
            </a:r>
            <a:r>
              <a:rPr lang="en-US" altLang="ko-KR" sz="2800" b="1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2800" b="1">
                <a:latin typeface="Noto Sans KR" panose="020B0500000000000000" pitchFamily="34" charset="-127"/>
                <a:ea typeface="Noto Sans KR" panose="020B0500000000000000" pitchFamily="34" charset="-127"/>
              </a:rPr>
              <a:t>수신 안테나 모듈 개발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4DF4C8-9B13-446C-A6A8-79E6358DC948}"/>
              </a:ext>
            </a:extLst>
          </p:cNvPr>
          <p:cNvSpPr/>
          <p:nvPr/>
        </p:nvSpPr>
        <p:spPr>
          <a:xfrm>
            <a:off x="78571" y="6447447"/>
            <a:ext cx="5125916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2024</a:t>
            </a:r>
            <a:r>
              <a:rPr lang="ko-KR" altLang="en-US" sz="10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년도 제 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r>
              <a:rPr lang="ko-KR" altLang="en-US" sz="10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차 정보통신 방송 기술개발사업 및 표준개발지원사업</a:t>
            </a: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A7162B4C-6491-419E-A7D3-08742CA7C02D}"/>
              </a:ext>
            </a:extLst>
          </p:cNvPr>
          <p:cNvSpPr txBox="1">
            <a:spLocks/>
          </p:cNvSpPr>
          <p:nvPr/>
        </p:nvSpPr>
        <p:spPr>
          <a:xfrm>
            <a:off x="0" y="2267574"/>
            <a:ext cx="9906000" cy="923330"/>
          </a:xfrm>
          <a:prstGeom prst="rect">
            <a:avLst/>
          </a:prstGeom>
        </p:spPr>
        <p:txBody>
          <a:bodyPr anchor="ctr"/>
          <a:lstStyle>
            <a:lvl1pPr algn="l" defTabSz="74295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kumimoji="1" lang="ko-KR" altLang="en-US" sz="2650" kern="1200" dirty="0">
                <a:solidFill>
                  <a:schemeClr val="bg1"/>
                </a:solidFill>
                <a:latin typeface="Noto Sans Korean Light" panose="020B0300000000000000" pitchFamily="34" charset="-127"/>
                <a:ea typeface="Noto Sans Korean Light" panose="020B0300000000000000" pitchFamily="34" charset="-127"/>
                <a:cs typeface="+mn-cs"/>
              </a:defRPr>
            </a:lvl1pPr>
          </a:lstStyle>
          <a:p>
            <a:pPr algn="ctr"/>
            <a:r>
              <a:rPr lang="en-US" altLang="ko-KR" sz="1600" b="1" dirty="0">
                <a:solidFill>
                  <a:srgbClr val="0860B5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- Kick-off Meeting -</a:t>
            </a:r>
            <a:r>
              <a:rPr lang="ko-KR" altLang="en-US" sz="1600" b="1" dirty="0">
                <a:solidFill>
                  <a:srgbClr val="0860B5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8688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A01BA3-5102-036B-AA42-9993E8624E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0240" y="2976150"/>
            <a:ext cx="5214111" cy="211705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600">
                <a:latin typeface="Noto Sans KR" panose="020B0500000000000000" pitchFamily="34" charset="-127"/>
                <a:ea typeface="Noto Sans KR" panose="020B0500000000000000" pitchFamily="34" charset="-127"/>
              </a:rPr>
              <a:t>과제 개요 및 필요성</a:t>
            </a:r>
            <a:endParaRPr lang="en-US" altLang="ko-KR" sz="16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latin typeface="Noto Sans KR" panose="020B0500000000000000" pitchFamily="34" charset="-127"/>
                <a:ea typeface="Noto Sans KR" panose="020B0500000000000000" pitchFamily="34" charset="-127"/>
              </a:rPr>
              <a:t>연구 목표 및 내용</a:t>
            </a:r>
            <a:endParaRPr lang="en-US" altLang="ko-KR" sz="160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latin typeface="Noto Sans KR" panose="020B0500000000000000" pitchFamily="34" charset="-127"/>
                <a:ea typeface="Noto Sans KR" panose="020B0500000000000000" pitchFamily="34" charset="-127"/>
              </a:rPr>
              <a:t>과제 추진 계획</a:t>
            </a:r>
            <a:endParaRPr lang="en-US" altLang="ko-KR" sz="16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latin typeface="Noto Sans KR" panose="020B0500000000000000" pitchFamily="34" charset="-127"/>
                <a:ea typeface="Noto Sans KR" panose="020B0500000000000000" pitchFamily="34" charset="-127"/>
              </a:rPr>
              <a:t>연차별 개발 내용 및 주요 결과물 </a:t>
            </a:r>
            <a:r>
              <a:rPr lang="en-US" altLang="ko-KR" sz="1600">
                <a:latin typeface="Noto Sans KR" panose="020B0500000000000000" pitchFamily="34" charset="-127"/>
                <a:ea typeface="Noto Sans KR" panose="020B0500000000000000" pitchFamily="34" charset="-127"/>
              </a:rPr>
              <a:t>– </a:t>
            </a:r>
            <a:r>
              <a:rPr lang="ko-KR" altLang="en-US" sz="1600">
                <a:latin typeface="Noto Sans KR" panose="020B0500000000000000" pitchFamily="34" charset="-127"/>
                <a:ea typeface="Noto Sans KR" panose="020B0500000000000000" pitchFamily="34" charset="-127"/>
              </a:rPr>
              <a:t>㈜두산전자사업 수지</a:t>
            </a:r>
            <a:endParaRPr lang="en-US" altLang="ko-KR" sz="160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r>
              <a:rPr lang="ko-KR" altLang="en-US" sz="1600">
                <a:latin typeface="Noto Sans KR" panose="020B0500000000000000" pitchFamily="34" charset="-127"/>
                <a:ea typeface="Noto Sans KR" panose="020B0500000000000000" pitchFamily="34" charset="-127"/>
              </a:rPr>
              <a:t>차년도 진행 스케쥴 및 계획 </a:t>
            </a:r>
            <a:r>
              <a:rPr lang="en-US" altLang="ko-KR" sz="1600">
                <a:latin typeface="Noto Sans KR" panose="020B0500000000000000" pitchFamily="34" charset="-127"/>
                <a:ea typeface="Noto Sans KR" panose="020B0500000000000000" pitchFamily="34" charset="-127"/>
              </a:rPr>
              <a:t>– </a:t>
            </a:r>
            <a:r>
              <a:rPr lang="ko-KR" altLang="en-US" sz="1600">
                <a:latin typeface="Noto Sans KR" panose="020B0500000000000000" pitchFamily="34" charset="-127"/>
                <a:ea typeface="Noto Sans KR" panose="020B0500000000000000" pitchFamily="34" charset="-127"/>
              </a:rPr>
              <a:t>㈜ 두산전자사업 수지</a:t>
            </a:r>
            <a:endParaRPr lang="ko-KR" altLang="en-US" sz="16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AFFE02B-8833-4F4F-862E-235445E05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목 차</a:t>
            </a:r>
          </a:p>
        </p:txBody>
      </p:sp>
    </p:spTree>
    <p:extLst>
      <p:ext uri="{BB962C8B-B14F-4D97-AF65-F5344CB8AC3E}">
        <p14:creationId xmlns:p14="http://schemas.microsoft.com/office/powerpoint/2010/main" val="1099902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AD10DA8-FB02-59A8-1BD2-915C945DCC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1800" b="1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1800" b="1">
                <a:latin typeface="Noto Sans KR" panose="020B0200000000000000" pitchFamily="50" charset="-127"/>
                <a:ea typeface="Noto Sans KR" panose="020B0200000000000000" pitchFamily="50" charset="-127"/>
              </a:rPr>
              <a:t>과제 개요 및 필요성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97A916-027B-F5DE-B507-2A9D7034D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8B113C4-B834-4BEA-901C-8797A7F90894}" type="slidenum">
              <a:rPr lang="ko-KR" altLang="en-US" smtClean="0"/>
              <a:pPr/>
              <a:t>2</a:t>
            </a:fld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CC78EC2-72C2-DF7F-DE1E-83A54CF5E4FF}"/>
              </a:ext>
            </a:extLst>
          </p:cNvPr>
          <p:cNvGrpSpPr/>
          <p:nvPr/>
        </p:nvGrpSpPr>
        <p:grpSpPr>
          <a:xfrm>
            <a:off x="379306" y="921125"/>
            <a:ext cx="9262534" cy="1330960"/>
            <a:chOff x="379306" y="1330960"/>
            <a:chExt cx="9262534" cy="133096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61B6BE3-7DA4-CB63-8C60-3AA9C58C6534}"/>
                </a:ext>
              </a:extLst>
            </p:cNvPr>
            <p:cNvSpPr/>
            <p:nvPr/>
          </p:nvSpPr>
          <p:spPr>
            <a:xfrm>
              <a:off x="379306" y="1330960"/>
              <a:ext cx="9262534" cy="46166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latin typeface="Noto Sans KR" panose="020B0200000000000000" pitchFamily="50" charset="-127"/>
                  <a:ea typeface="Noto Sans KR" panose="020B0200000000000000" pitchFamily="50" charset="-127"/>
                </a:rPr>
                <a:t>연구개발과제명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86741FC-2BCD-BFA5-E18C-060F81DBA60B}"/>
                </a:ext>
              </a:extLst>
            </p:cNvPr>
            <p:cNvSpPr/>
            <p:nvPr/>
          </p:nvSpPr>
          <p:spPr>
            <a:xfrm>
              <a:off x="379306" y="1792626"/>
              <a:ext cx="9262534" cy="8692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고출력</a:t>
              </a:r>
              <a:r>
                <a:rPr lang="en-US" altLang="ko-KR" sz="16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6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광대역 특성을 갖는 레이돔 일체형 위성 통신 지상</a:t>
              </a:r>
              <a:endPara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6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단말국용 빔조향 송</a:t>
              </a:r>
              <a:r>
                <a:rPr lang="en-US" altLang="ko-KR" sz="16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6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수신 안테나 모듈 개발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FF532F2-7580-146E-4D5B-2143FE6F1056}"/>
              </a:ext>
            </a:extLst>
          </p:cNvPr>
          <p:cNvGrpSpPr/>
          <p:nvPr/>
        </p:nvGrpSpPr>
        <p:grpSpPr>
          <a:xfrm>
            <a:off x="285981" y="2509823"/>
            <a:ext cx="9475698" cy="1815772"/>
            <a:chOff x="285981" y="3071188"/>
            <a:chExt cx="9475698" cy="181577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33125D9-A2E9-EC4A-83D1-766841AA06AF}"/>
                </a:ext>
              </a:extLst>
            </p:cNvPr>
            <p:cNvSpPr/>
            <p:nvPr/>
          </p:nvSpPr>
          <p:spPr>
            <a:xfrm>
              <a:off x="379306" y="3071188"/>
              <a:ext cx="9262534" cy="46166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latin typeface="Noto Sans KR" panose="020B0200000000000000" pitchFamily="50" charset="-127"/>
                  <a:ea typeface="Noto Sans KR" panose="020B0200000000000000" pitchFamily="50" charset="-127"/>
                </a:rPr>
                <a:t>연구개발기관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E8FDC4-A963-EEB6-38CE-AEF1F376A2CF}"/>
                </a:ext>
              </a:extLst>
            </p:cNvPr>
            <p:cNvSpPr/>
            <p:nvPr/>
          </p:nvSpPr>
          <p:spPr>
            <a:xfrm>
              <a:off x="379306" y="3532854"/>
              <a:ext cx="9262534" cy="135410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814152C-0DC0-55A5-E353-D759E58BB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359"/>
            <a:stretch>
              <a:fillRect/>
            </a:stretch>
          </p:blipFill>
          <p:spPr>
            <a:xfrm>
              <a:off x="2323576" y="3970354"/>
              <a:ext cx="979073" cy="516062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68DACC7-5E0B-1F7F-D9BA-DC88237C8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4791" y="4065888"/>
              <a:ext cx="1432560" cy="34701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B1E303-9AD4-41BC-2AA7-4EC81894EBA0}"/>
                </a:ext>
              </a:extLst>
            </p:cNvPr>
            <p:cNvSpPr txBox="1"/>
            <p:nvPr/>
          </p:nvSpPr>
          <p:spPr>
            <a:xfrm>
              <a:off x="504641" y="3659966"/>
              <a:ext cx="143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주관기관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693570-D169-8044-FAA9-2A146D8F95A5}"/>
                </a:ext>
              </a:extLst>
            </p:cNvPr>
            <p:cNvSpPr txBox="1"/>
            <p:nvPr/>
          </p:nvSpPr>
          <p:spPr>
            <a:xfrm>
              <a:off x="285981" y="4447958"/>
              <a:ext cx="18224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㈜두산전자사업 수지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26B736-ACC8-3022-DCC8-3AE50F485581}"/>
                </a:ext>
              </a:extLst>
            </p:cNvPr>
            <p:cNvSpPr txBox="1"/>
            <p:nvPr/>
          </p:nvSpPr>
          <p:spPr>
            <a:xfrm>
              <a:off x="1941342" y="4447958"/>
              <a:ext cx="17332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한국전자기술연구원</a:t>
              </a: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D71D6D61-04BD-D5D6-55E5-619828432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26112" y="3907222"/>
              <a:ext cx="851518" cy="55676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E4C1021-64C6-D218-6B00-4271FFC5FFF0}"/>
                </a:ext>
              </a:extLst>
            </p:cNvPr>
            <p:cNvSpPr txBox="1"/>
            <p:nvPr/>
          </p:nvSpPr>
          <p:spPr>
            <a:xfrm>
              <a:off x="3507411" y="4447958"/>
              <a:ext cx="16889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한국산업기술시험원</a:t>
              </a: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B20526C-62AF-45C6-5A43-78F497D4E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76162" y="4030199"/>
              <a:ext cx="1194983" cy="378692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822297-B9CB-5FEC-09DE-81B0DECD7717}"/>
                </a:ext>
              </a:extLst>
            </p:cNvPr>
            <p:cNvSpPr txBox="1"/>
            <p:nvPr/>
          </p:nvSpPr>
          <p:spPr>
            <a:xfrm>
              <a:off x="5029194" y="4447958"/>
              <a:ext cx="16889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울산과학기술원</a:t>
              </a: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70877DE7-7EDE-626F-2B0D-E818971CA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04355" y="3970354"/>
              <a:ext cx="1382164" cy="49363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607D28-BBD7-5BCE-248E-FCCEF9C69E33}"/>
                </a:ext>
              </a:extLst>
            </p:cNvPr>
            <p:cNvSpPr txBox="1"/>
            <p:nvPr/>
          </p:nvSpPr>
          <p:spPr>
            <a:xfrm>
              <a:off x="6550977" y="4447958"/>
              <a:ext cx="16889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㈜알에프텍</a:t>
              </a: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CA011BEE-C2F1-00EA-1459-E0E95E3F9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78970" y="3848097"/>
              <a:ext cx="676495" cy="715712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464849-2C27-FB73-C9C3-D9CE5827447C}"/>
                </a:ext>
              </a:extLst>
            </p:cNvPr>
            <p:cNvSpPr txBox="1"/>
            <p:nvPr/>
          </p:nvSpPr>
          <p:spPr>
            <a:xfrm>
              <a:off x="8072758" y="4447958"/>
              <a:ext cx="16889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국립금오공과대학교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8E1C88-9218-A81B-C665-60B64A4CC855}"/>
                </a:ext>
              </a:extLst>
            </p:cNvPr>
            <p:cNvSpPr txBox="1"/>
            <p:nvPr/>
          </p:nvSpPr>
          <p:spPr>
            <a:xfrm>
              <a:off x="2090579" y="3659966"/>
              <a:ext cx="143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참여기관</a:t>
              </a:r>
              <a:r>
                <a:rPr lang="en-US" altLang="ko-KR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endPara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8742FA-FD71-A296-ED66-8C04EA993C9B}"/>
                </a:ext>
              </a:extLst>
            </p:cNvPr>
            <p:cNvSpPr txBox="1"/>
            <p:nvPr/>
          </p:nvSpPr>
          <p:spPr>
            <a:xfrm>
              <a:off x="3641721" y="3659966"/>
              <a:ext cx="143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참여기관</a:t>
              </a:r>
              <a:r>
                <a:rPr lang="en-US" altLang="ko-KR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2</a:t>
              </a:r>
              <a:endPara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002FB24-B9A0-77FB-C421-DFFB45B7AB8D}"/>
                </a:ext>
              </a:extLst>
            </p:cNvPr>
            <p:cNvSpPr txBox="1"/>
            <p:nvPr/>
          </p:nvSpPr>
          <p:spPr>
            <a:xfrm>
              <a:off x="5155190" y="3659966"/>
              <a:ext cx="143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참여기관</a:t>
              </a:r>
              <a:r>
                <a:rPr lang="en-US" altLang="ko-KR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3</a:t>
              </a:r>
              <a:endPara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2DEC9E-8A5C-C503-A164-35FC82F669E3}"/>
                </a:ext>
              </a:extLst>
            </p:cNvPr>
            <p:cNvSpPr txBox="1"/>
            <p:nvPr/>
          </p:nvSpPr>
          <p:spPr>
            <a:xfrm>
              <a:off x="6679157" y="3659966"/>
              <a:ext cx="143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참여기관</a:t>
              </a:r>
              <a:r>
                <a:rPr lang="en-US" altLang="ko-KR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4</a:t>
              </a:r>
              <a:endPara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BE82D44-ADAD-22DC-0F04-949BBBFFEEF3}"/>
                </a:ext>
              </a:extLst>
            </p:cNvPr>
            <p:cNvSpPr txBox="1"/>
            <p:nvPr/>
          </p:nvSpPr>
          <p:spPr>
            <a:xfrm>
              <a:off x="8221879" y="3586236"/>
              <a:ext cx="143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참여기관</a:t>
              </a:r>
              <a:r>
                <a:rPr lang="en-US" altLang="ko-KR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5</a:t>
              </a:r>
              <a:endPara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E50732-C259-57AD-6B58-5B23696881EE}"/>
              </a:ext>
            </a:extLst>
          </p:cNvPr>
          <p:cNvSpPr/>
          <p:nvPr/>
        </p:nvSpPr>
        <p:spPr>
          <a:xfrm>
            <a:off x="379306" y="4583334"/>
            <a:ext cx="9262534" cy="461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연구기간 및 연구개발비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89FBD843-1083-F218-D68F-E8F8E44C2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151516"/>
              </p:ext>
            </p:extLst>
          </p:nvPr>
        </p:nvGraphicFramePr>
        <p:xfrm>
          <a:off x="379307" y="5056963"/>
          <a:ext cx="9275133" cy="1102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90947">
                  <a:extLst>
                    <a:ext uri="{9D8B030D-6E8A-4147-A177-3AD203B41FA5}">
                      <a16:colId xmlns:a16="http://schemas.microsoft.com/office/drawing/2014/main" val="2846407069"/>
                    </a:ext>
                  </a:extLst>
                </a:gridCol>
                <a:gridCol w="1433056">
                  <a:extLst>
                    <a:ext uri="{9D8B030D-6E8A-4147-A177-3AD203B41FA5}">
                      <a16:colId xmlns:a16="http://schemas.microsoft.com/office/drawing/2014/main" val="978620208"/>
                    </a:ext>
                  </a:extLst>
                </a:gridCol>
                <a:gridCol w="2787648">
                  <a:extLst>
                    <a:ext uri="{9D8B030D-6E8A-4147-A177-3AD203B41FA5}">
                      <a16:colId xmlns:a16="http://schemas.microsoft.com/office/drawing/2014/main" val="3388568376"/>
                    </a:ext>
                  </a:extLst>
                </a:gridCol>
                <a:gridCol w="1234686">
                  <a:extLst>
                    <a:ext uri="{9D8B030D-6E8A-4147-A177-3AD203B41FA5}">
                      <a16:colId xmlns:a16="http://schemas.microsoft.com/office/drawing/2014/main" val="2820704586"/>
                    </a:ext>
                  </a:extLst>
                </a:gridCol>
                <a:gridCol w="2528796">
                  <a:extLst>
                    <a:ext uri="{9D8B030D-6E8A-4147-A177-3AD203B41FA5}">
                      <a16:colId xmlns:a16="http://schemas.microsoft.com/office/drawing/2014/main" val="2717986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총 연구기간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2026.07.01 – 2032.12.31 (6</a:t>
                      </a:r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년 </a:t>
                      </a:r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개월</a:t>
                      </a:r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400" b="1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553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연구개발비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총 연구 개발비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14,443,500 </a:t>
                      </a:r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천원</a:t>
                      </a:r>
                      <a:endParaRPr lang="en-US" altLang="ko-KR" sz="1400" b="1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출연금</a:t>
                      </a:r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10,200,000 </a:t>
                      </a:r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천원</a:t>
                      </a:r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민간부담금</a:t>
                      </a:r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4,243,500 </a:t>
                      </a:r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천원</a:t>
                      </a:r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400" b="1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</a:t>
                      </a:r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년</a:t>
                      </a:r>
                      <a:endParaRPr lang="en-US" altLang="ko-KR" sz="1400" b="1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연구 개발비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1,239,500 </a:t>
                      </a:r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천원</a:t>
                      </a:r>
                      <a:endParaRPr lang="en-US" altLang="ko-KR" sz="1400" b="1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출연금</a:t>
                      </a:r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810,000 </a:t>
                      </a:r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천원</a:t>
                      </a:r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민간부담금</a:t>
                      </a:r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429,500 </a:t>
                      </a:r>
                      <a:r>
                        <a:rPr lang="ko-KR" altLang="en-US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천원</a:t>
                      </a:r>
                      <a:r>
                        <a:rPr lang="en-US" altLang="ko-KR" sz="14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400" b="1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676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59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171E5-B483-CDF5-ED0E-D3C3B7E1C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8B113C4-B834-4BEA-901C-8797A7F90894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5" name="제목 2">
            <a:extLst>
              <a:ext uri="{FF2B5EF4-FFF2-40B4-BE49-F238E27FC236}">
                <a16:creationId xmlns:a16="http://schemas.microsoft.com/office/drawing/2014/main" id="{3D9CEC28-AB14-79A2-6859-5627F7179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</p:spPr>
        <p:txBody>
          <a:bodyPr>
            <a:normAutofit/>
          </a:bodyPr>
          <a:lstStyle/>
          <a:p>
            <a:r>
              <a:rPr lang="en-US" altLang="ko-KR" sz="1800" b="1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1800" b="1">
                <a:latin typeface="Noto Sans KR" panose="020B0200000000000000" pitchFamily="50" charset="-127"/>
                <a:ea typeface="Noto Sans KR" panose="020B0200000000000000" pitchFamily="50" charset="-127"/>
              </a:rPr>
              <a:t>과제 개요 및 필요성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919DA69-3E35-1D4E-7530-E3E176B001CA}"/>
              </a:ext>
            </a:extLst>
          </p:cNvPr>
          <p:cNvSpPr/>
          <p:nvPr/>
        </p:nvSpPr>
        <p:spPr>
          <a:xfrm>
            <a:off x="272980" y="1244009"/>
            <a:ext cx="2051931" cy="13609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ko-KR" sz="1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en-US" altLang="ko-KR" sz="1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6G</a:t>
            </a:r>
            <a:r>
              <a:rPr lang="ko-KR" altLang="en-US" sz="1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위성통신</a:t>
            </a:r>
            <a:endParaRPr lang="en-US" altLang="ko-KR" sz="1600" b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시장 확장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4BF1D88-C9EF-9669-E10E-0D38682C263A}"/>
              </a:ext>
            </a:extLst>
          </p:cNvPr>
          <p:cNvSpPr/>
          <p:nvPr/>
        </p:nvSpPr>
        <p:spPr>
          <a:xfrm>
            <a:off x="2558375" y="1244009"/>
            <a:ext cx="7081914" cy="13609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초고속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대용량 데이터 수요 급증으로 저궤도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(LEO)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위성 기반 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NTN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중요성 확대</a:t>
            </a:r>
            <a:endParaRPr lang="en-US" altLang="ko-KR" sz="140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6G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지상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위성망 통합 필수화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능동형 빔조향 단말 기술 확보가 핵심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C7A82B-BC7F-B850-C6F1-16F01677FC5A}"/>
              </a:ext>
            </a:extLst>
          </p:cNvPr>
          <p:cNvSpPr/>
          <p:nvPr/>
        </p:nvSpPr>
        <p:spPr>
          <a:xfrm>
            <a:off x="272980" y="3014703"/>
            <a:ext cx="2051931" cy="13609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기존 위성통신 단말 기술의 구조적 한계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4E4C338-1071-EC81-A78A-2E6CD7C30F4C}"/>
              </a:ext>
            </a:extLst>
          </p:cNvPr>
          <p:cNvSpPr/>
          <p:nvPr/>
        </p:nvSpPr>
        <p:spPr>
          <a:xfrm>
            <a:off x="2558375" y="3014703"/>
            <a:ext cx="7081914" cy="13609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기계식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제한적 전자식 빔조향 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빔 전환 지연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설치 제약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발열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배열 확장 시 오차 누적</a:t>
            </a:r>
            <a:endParaRPr lang="en-US" altLang="ko-KR" sz="140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안테나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·RF-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레이돔 분리 구조 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경로 손실 증가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임피던스 불연속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방사패턴 왜곡</a:t>
            </a:r>
            <a:endParaRPr lang="ko-KR" altLang="en-US" sz="140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F53803F-2B4A-347C-D599-E6ABD0479A2F}"/>
              </a:ext>
            </a:extLst>
          </p:cNvPr>
          <p:cNvSpPr/>
          <p:nvPr/>
        </p:nvSpPr>
        <p:spPr>
          <a:xfrm>
            <a:off x="272980" y="4722181"/>
            <a:ext cx="2051931" cy="13609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레이돔 일체 통합형 </a:t>
            </a:r>
            <a:r>
              <a:rPr lang="en-US" altLang="ko-KR" sz="1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ESA </a:t>
            </a:r>
            <a:r>
              <a:rPr lang="ko-KR" altLang="en-US" sz="1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 개발</a:t>
            </a:r>
            <a:endParaRPr lang="en-US" altLang="ko-KR" sz="1600" b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필요성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A721CCC-F231-0F25-B2E3-31E9AB84421B}"/>
              </a:ext>
            </a:extLst>
          </p:cNvPr>
          <p:cNvSpPr/>
          <p:nvPr/>
        </p:nvSpPr>
        <p:spPr>
          <a:xfrm>
            <a:off x="2558375" y="4722181"/>
            <a:ext cx="7081914" cy="13609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레이돔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메타표면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안테나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-RF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일체형 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Full ESA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급전손실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최소화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확장형 배열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실시간 보정 동시 확보</a:t>
            </a:r>
            <a:endParaRPr lang="en-US" altLang="ko-KR" sz="140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방사효율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경량화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확장성 우위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당사 저손실 소재</a:t>
            </a:r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모듈 통합 역량 기반 글로벌 경쟁력 확보</a:t>
            </a:r>
          </a:p>
        </p:txBody>
      </p:sp>
    </p:spTree>
    <p:extLst>
      <p:ext uri="{BB962C8B-B14F-4D97-AF65-F5344CB8AC3E}">
        <p14:creationId xmlns:p14="http://schemas.microsoft.com/office/powerpoint/2010/main" val="3379470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EED2A8-45A9-67CB-0B76-47E7B83F1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8B113C4-B834-4BEA-901C-8797A7F90894}" type="slidenum">
              <a:rPr lang="ko-KR" altLang="en-US" smtClean="0"/>
              <a:pPr/>
              <a:t>4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900FD94-105F-25A6-6E81-0B5EBEE47849}"/>
              </a:ext>
            </a:extLst>
          </p:cNvPr>
          <p:cNvGrpSpPr/>
          <p:nvPr/>
        </p:nvGrpSpPr>
        <p:grpSpPr>
          <a:xfrm>
            <a:off x="379306" y="921124"/>
            <a:ext cx="9262534" cy="1448695"/>
            <a:chOff x="379306" y="1330960"/>
            <a:chExt cx="9262534" cy="133096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7E81548-91CF-2AC9-FBFB-E0D76687339D}"/>
                </a:ext>
              </a:extLst>
            </p:cNvPr>
            <p:cNvSpPr/>
            <p:nvPr/>
          </p:nvSpPr>
          <p:spPr>
            <a:xfrm>
              <a:off x="379306" y="1330960"/>
              <a:ext cx="9262534" cy="46166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latin typeface="Noto Sans KR" panose="020B0200000000000000" pitchFamily="50" charset="-127"/>
                  <a:ea typeface="Noto Sans KR" panose="020B0200000000000000" pitchFamily="50" charset="-127"/>
                </a:rPr>
                <a:t>최종목표</a:t>
              </a:r>
              <a:r>
                <a:rPr lang="en-US" altLang="ko-KR" sz="1600">
                  <a:latin typeface="Noto Sans KR" panose="020B0200000000000000" pitchFamily="50" charset="-127"/>
                  <a:ea typeface="Noto Sans KR" panose="020B0200000000000000" pitchFamily="50" charset="-127"/>
                </a:rPr>
                <a:t>: </a:t>
              </a:r>
              <a:r>
                <a:rPr lang="ko-KR" altLang="en-US" sz="1600">
                  <a:latin typeface="Noto Sans KR" panose="020B0200000000000000" pitchFamily="50" charset="-127"/>
                  <a:ea typeface="Noto Sans KR" panose="020B0200000000000000" pitchFamily="50" charset="-127"/>
                </a:rPr>
                <a:t>고출력 광대역 특성을 갖는 메타</a:t>
              </a:r>
              <a:r>
                <a:rPr lang="en-US" altLang="ko-KR" sz="160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r>
                <a:rPr lang="ko-KR" altLang="en-US" sz="1600">
                  <a:latin typeface="Noto Sans KR" panose="020B0200000000000000" pitchFamily="50" charset="-127"/>
                  <a:ea typeface="Noto Sans KR" panose="020B0200000000000000" pitchFamily="50" charset="-127"/>
                </a:rPr>
                <a:t>레이돔 통합 송</a:t>
              </a:r>
              <a:r>
                <a:rPr lang="en-US" altLang="ko-KR" sz="1600">
                  <a:latin typeface="Noto Sans KR" panose="020B0200000000000000" pitchFamily="50" charset="-127"/>
                  <a:ea typeface="Noto Sans KR" panose="020B0200000000000000" pitchFamily="50" charset="-127"/>
                </a:rPr>
                <a:t>,</a:t>
              </a:r>
              <a:r>
                <a:rPr lang="ko-KR" altLang="en-US" sz="1600">
                  <a:latin typeface="Noto Sans KR" panose="020B0200000000000000" pitchFamily="50" charset="-127"/>
                  <a:ea typeface="Noto Sans KR" panose="020B0200000000000000" pitchFamily="50" charset="-127"/>
                </a:rPr>
                <a:t>수신 모듈 개발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0EE0126-36FE-02D9-E7A3-43595F6C9FCC}"/>
                </a:ext>
              </a:extLst>
            </p:cNvPr>
            <p:cNvSpPr/>
            <p:nvPr/>
          </p:nvSpPr>
          <p:spPr>
            <a:xfrm>
              <a:off x="379306" y="1792626"/>
              <a:ext cx="9262534" cy="8692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Tx &amp; Rx </a:t>
              </a:r>
              <a:r>
                <a:rPr lang="ko-KR" altLang="en-US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통합 위성 통신용 송수신 </a:t>
              </a:r>
              <a:r>
                <a:rPr lang="ko-KR" altLang="en-US" sz="1400" b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안테나</a:t>
              </a:r>
              <a:r>
                <a:rPr lang="en-US" altLang="ko-KR" sz="1400" b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-RF </a:t>
              </a:r>
              <a:r>
                <a:rPr lang="ko-KR" altLang="en-US" sz="1400" b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통합 송수신 모듈 </a:t>
              </a:r>
              <a:r>
                <a:rPr lang="ko-KR" altLang="en-US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개발</a:t>
              </a:r>
              <a:endPara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400" b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저유전</a:t>
              </a:r>
              <a:r>
                <a:rPr lang="en-US" altLang="ko-KR" sz="1400" b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· </a:t>
              </a:r>
              <a:r>
                <a:rPr lang="ko-KR" altLang="en-US" sz="1400" b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저손실 소재 기반 </a:t>
              </a:r>
              <a:r>
                <a:rPr lang="ko-KR" altLang="en-US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안테나 소자 및 확장형 고이득 배열 구조 개발</a:t>
              </a:r>
              <a:endPara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전파 투과 특성 최적화 및 빔 조향 가능한 </a:t>
              </a:r>
              <a:r>
                <a:rPr lang="ko-KR" altLang="en-US" sz="1400" b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레이돔</a:t>
              </a:r>
              <a:r>
                <a:rPr lang="en-US" altLang="ko-KR" sz="1400" b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r>
                <a:rPr lang="ko-KR" altLang="en-US" sz="1400" b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메타표면 구조 </a:t>
              </a:r>
              <a:r>
                <a:rPr lang="ko-KR" altLang="en-US" sz="140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개발</a:t>
              </a:r>
            </a:p>
          </p:txBody>
        </p:sp>
      </p:grpSp>
      <p:sp>
        <p:nvSpPr>
          <p:cNvPr id="14" name="제목 2">
            <a:extLst>
              <a:ext uri="{FF2B5EF4-FFF2-40B4-BE49-F238E27FC236}">
                <a16:creationId xmlns:a16="http://schemas.microsoft.com/office/drawing/2014/main" id="{5B5D8E18-839C-3309-8F19-C67010FE0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</p:spPr>
        <p:txBody>
          <a:bodyPr>
            <a:normAutofit/>
          </a:bodyPr>
          <a:lstStyle/>
          <a:p>
            <a:r>
              <a:rPr lang="en-US" altLang="ko-KR" sz="1800" b="1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1800" b="1">
                <a:latin typeface="Noto Sans KR" panose="020B0200000000000000" pitchFamily="50" charset="-127"/>
                <a:ea typeface="Noto Sans KR" panose="020B0200000000000000" pitchFamily="50" charset="-127"/>
              </a:rPr>
              <a:t>연구 목표 및 내용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91335D2-2168-3210-ED16-6907BD435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79" y="2533460"/>
            <a:ext cx="9362501" cy="375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65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B9816-7A1E-BEB8-F539-72D8BB96C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280224"/>
            <a:ext cx="9906000" cy="365125"/>
          </a:xfrm>
        </p:spPr>
        <p:txBody>
          <a:bodyPr/>
          <a:lstStyle/>
          <a:p>
            <a:fld id="{E8B113C4-B834-4BEA-901C-8797A7F90894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62" name="제목 3">
            <a:extLst>
              <a:ext uri="{FF2B5EF4-FFF2-40B4-BE49-F238E27FC236}">
                <a16:creationId xmlns:a16="http://schemas.microsoft.com/office/drawing/2014/main" id="{AEA463D1-DAD2-9CA1-4A3E-180BEDBCA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</p:spPr>
        <p:txBody>
          <a:bodyPr>
            <a:noAutofit/>
          </a:bodyPr>
          <a:lstStyle/>
          <a:p>
            <a:r>
              <a:rPr lang="en-US" altLang="ko-KR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2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 연구 목표 및 내용</a:t>
            </a:r>
            <a:endParaRPr lang="ko-KR" altLang="en-US" sz="18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A70D5F-E58B-C962-4F87-4B95A1A9E3B4}"/>
              </a:ext>
            </a:extLst>
          </p:cNvPr>
          <p:cNvSpPr txBox="1"/>
          <p:nvPr/>
        </p:nvSpPr>
        <p:spPr>
          <a:xfrm>
            <a:off x="92964" y="797907"/>
            <a:ext cx="9653650" cy="89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주관기관으로서 세부 과제 총괄 및 수행기관 간 일정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협의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 ·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연구비를 관리하며 결과물을 통합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저손실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 ·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고방열 소재와 적층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PCB ·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패키징 기술을 기반으로 아키텍처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 ·RF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버짓 설계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다채널 빔포밍 구조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, SI/PI ·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열해석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시작품 검증 수행</a:t>
            </a:r>
            <a:endParaRPr lang="en-US" altLang="ko-KR" sz="120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</a:rPr>
              <a:t>2x2 Unit cell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에서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</a:rPr>
              <a:t>N x Module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까지 배열 확장 구조를 설계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하고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CP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메타표면 유닛셀 설계와 방열 레이돔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EM ·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열 해석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일체형 통합 구조 검증 수행</a:t>
            </a:r>
            <a:endParaRPr lang="en-US" altLang="ko-KR" sz="120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3D1B788-C7EE-5A7C-7E61-4B00FD4BD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786337"/>
              </p:ext>
            </p:extLst>
          </p:nvPr>
        </p:nvGraphicFramePr>
        <p:xfrm>
          <a:off x="280494" y="2062008"/>
          <a:ext cx="9250523" cy="44203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1503280588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222053110"/>
                    </a:ext>
                  </a:extLst>
                </a:gridCol>
                <a:gridCol w="720771">
                  <a:extLst>
                    <a:ext uri="{9D8B030D-6E8A-4147-A177-3AD203B41FA5}">
                      <a16:colId xmlns:a16="http://schemas.microsoft.com/office/drawing/2014/main" val="3273603050"/>
                    </a:ext>
                  </a:extLst>
                </a:gridCol>
                <a:gridCol w="1393195">
                  <a:extLst>
                    <a:ext uri="{9D8B030D-6E8A-4147-A177-3AD203B41FA5}">
                      <a16:colId xmlns:a16="http://schemas.microsoft.com/office/drawing/2014/main" val="1474730054"/>
                    </a:ext>
                  </a:extLst>
                </a:gridCol>
                <a:gridCol w="811243">
                  <a:extLst>
                    <a:ext uri="{9D8B030D-6E8A-4147-A177-3AD203B41FA5}">
                      <a16:colId xmlns:a16="http://schemas.microsoft.com/office/drawing/2014/main" val="2089420017"/>
                    </a:ext>
                  </a:extLst>
                </a:gridCol>
                <a:gridCol w="944438">
                  <a:extLst>
                    <a:ext uri="{9D8B030D-6E8A-4147-A177-3AD203B41FA5}">
                      <a16:colId xmlns:a16="http://schemas.microsoft.com/office/drawing/2014/main" val="637062443"/>
                    </a:ext>
                  </a:extLst>
                </a:gridCol>
                <a:gridCol w="944438">
                  <a:extLst>
                    <a:ext uri="{9D8B030D-6E8A-4147-A177-3AD203B41FA5}">
                      <a16:colId xmlns:a16="http://schemas.microsoft.com/office/drawing/2014/main" val="3666690853"/>
                    </a:ext>
                  </a:extLst>
                </a:gridCol>
                <a:gridCol w="944438">
                  <a:extLst>
                    <a:ext uri="{9D8B030D-6E8A-4147-A177-3AD203B41FA5}">
                      <a16:colId xmlns:a16="http://schemas.microsoft.com/office/drawing/2014/main" val="1994124729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311491185"/>
                    </a:ext>
                  </a:extLst>
                </a:gridCol>
              </a:tblGrid>
              <a:tr h="259154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평가항목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단위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세계 최고수준 보유국</a:t>
                      </a:r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보유기업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연구개발 전 </a:t>
                      </a:r>
                      <a:endParaRPr lang="en-US" altLang="ko-KR" sz="12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국내수준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연구개발 목표치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평가 방법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403388"/>
                  </a:ext>
                </a:extLst>
              </a:tr>
              <a:tr h="259154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181962"/>
                  </a:ext>
                </a:extLst>
              </a:tr>
              <a:tr h="259154">
                <a:tc rowSpan="2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 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동작주파수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Rx</a:t>
                      </a:r>
                      <a:endParaRPr lang="ko-KR" altLang="en-US" sz="12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GHz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17.2 – 21.2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17.7 – 21.2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18.5 – 20.5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18 – 21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17.7 – 21.2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공인 시험성적서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694062"/>
                  </a:ext>
                </a:extLst>
              </a:tr>
              <a:tr h="2591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Tx</a:t>
                      </a:r>
                      <a:endParaRPr lang="ko-KR" altLang="en-US" sz="12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GHz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27.5 – 31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27.5 – 31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28 – 30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27.5 – 30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27.5 – 31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공인 시험성적서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530557"/>
                  </a:ext>
                </a:extLst>
              </a:tr>
              <a:tr h="2591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2. 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안테나 이득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dBi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 </a:t>
                      </a:r>
                    </a:p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미국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/Anokiwave)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24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공인 시험성적서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838133"/>
                  </a:ext>
                </a:extLst>
              </a:tr>
              <a:tr h="2591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3. 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빔 조향 범위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degree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65</a:t>
                      </a:r>
                    </a:p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미국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/SpaceX)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55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65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공인 시험성적서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467770"/>
                  </a:ext>
                </a:extLst>
              </a:tr>
              <a:tr h="2591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4. ERIP</a:t>
                      </a:r>
                      <a:endParaRPr lang="ko-KR" altLang="en-US" sz="12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dBW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30</a:t>
                      </a:r>
                    </a:p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미국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/Anokiwave)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12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28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공인 시험성적서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896583"/>
                  </a:ext>
                </a:extLst>
              </a:tr>
              <a:tr h="259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5. 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배열 규모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Rx</a:t>
                      </a:r>
                      <a:endParaRPr lang="ko-KR" altLang="en-US" sz="12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256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512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공인 시험성적서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513060"/>
                  </a:ext>
                </a:extLst>
              </a:tr>
              <a:tr h="259154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Tx</a:t>
                      </a:r>
                      <a:endParaRPr lang="ko-KR" altLang="en-US" sz="12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64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512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1024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공인 시험성적서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844338"/>
                  </a:ext>
                </a:extLst>
              </a:tr>
              <a:tr h="2591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6. VSWR</a:t>
                      </a:r>
                      <a:endParaRPr lang="ko-KR" altLang="en-US" sz="12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≤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2.5:1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≤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2:1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≤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2:1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공인 시험성적서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87236"/>
                  </a:ext>
                </a:extLst>
              </a:tr>
              <a:tr h="2591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7. 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격리도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dB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15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≥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공인 시험성적서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964306"/>
                  </a:ext>
                </a:extLst>
              </a:tr>
              <a:tr h="2591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8. 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급전 망 손실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dB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≤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≤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≤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공인 시험성적서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946394"/>
                  </a:ext>
                </a:extLst>
              </a:tr>
              <a:tr h="2591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9. SLL</a:t>
                      </a:r>
                      <a:endParaRPr lang="ko-KR" altLang="en-US" sz="12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dB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≤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-14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≤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-16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≤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-18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공인 시험성적서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848297"/>
                  </a:ext>
                </a:extLst>
              </a:tr>
              <a:tr h="2591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10.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프로브 안테나 인자 측정불확도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dB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1.2</a:t>
                      </a:r>
                    </a:p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영국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/NPL)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1.4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1.4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1.2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1.2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KOLAS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인정서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730746"/>
                  </a:ext>
                </a:extLst>
              </a:tr>
              <a:tr h="2591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11. RF 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레이돔 투과 손실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dB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0.2</a:t>
                      </a:r>
                    </a:p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미국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항공우주기업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1.5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0.7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0.5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품질요구서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572496"/>
                  </a:ext>
                </a:extLst>
              </a:tr>
              <a:tr h="2591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12. 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메타 레이돔 투과 축비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dB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</a:p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미국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/SpaceX)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≤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≤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≤</a:t>
                      </a:r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2.5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공인 시험성적서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5278"/>
                  </a:ext>
                </a:extLst>
              </a:tr>
            </a:tbl>
          </a:graphicData>
        </a:graphic>
      </p:graphicFrame>
      <p:sp>
        <p:nvSpPr>
          <p:cNvPr id="64" name="직사각형 63">
            <a:extLst>
              <a:ext uri="{FF2B5EF4-FFF2-40B4-BE49-F238E27FC236}">
                <a16:creationId xmlns:a16="http://schemas.microsoft.com/office/drawing/2014/main" id="{F2AB2371-7659-5824-A086-23A5C2918E27}"/>
              </a:ext>
            </a:extLst>
          </p:cNvPr>
          <p:cNvSpPr/>
          <p:nvPr/>
        </p:nvSpPr>
        <p:spPr>
          <a:xfrm>
            <a:off x="184404" y="2493235"/>
            <a:ext cx="9508236" cy="3064994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C47E86-9BA1-3F46-CC0A-1E999460FD7F}"/>
              </a:ext>
            </a:extLst>
          </p:cNvPr>
          <p:cNvSpPr txBox="1"/>
          <p:nvPr/>
        </p:nvSpPr>
        <p:spPr>
          <a:xfrm>
            <a:off x="8445500" y="5558229"/>
            <a:ext cx="1276096" cy="369332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rgbClr val="FF0000"/>
                </a:solidFill>
              </a:rPr>
              <a:t>두산</a:t>
            </a:r>
            <a:r>
              <a:rPr lang="en-US" altLang="ko-KR">
                <a:solidFill>
                  <a:srgbClr val="FF0000"/>
                </a:solidFill>
              </a:rPr>
              <a:t>, KETI</a:t>
            </a:r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18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9642EB-0CF1-F40E-7324-48438E378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9906000" cy="365125"/>
          </a:xfrm>
        </p:spPr>
        <p:txBody>
          <a:bodyPr/>
          <a:lstStyle/>
          <a:p>
            <a:fld id="{E8B113C4-B834-4BEA-901C-8797A7F90894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0DBC5573-9DE7-BAFD-DD32-CB5BDCC13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</p:spPr>
        <p:txBody>
          <a:bodyPr>
            <a:noAutofit/>
          </a:bodyPr>
          <a:lstStyle/>
          <a:p>
            <a:r>
              <a:rPr lang="en-US" altLang="ko-KR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2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 연구 목표 및 내용</a:t>
            </a:r>
            <a:endParaRPr lang="ko-KR" altLang="en-US" sz="18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6EBD-85F6-A0DE-0FE7-7EC7671CB553}"/>
              </a:ext>
            </a:extLst>
          </p:cNvPr>
          <p:cNvSpPr txBox="1"/>
          <p:nvPr/>
        </p:nvSpPr>
        <p:spPr>
          <a:xfrm>
            <a:off x="92964" y="797907"/>
            <a:ext cx="9653650" cy="336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전 연구기간 정량적 성과 목표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특허 출원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</a:rPr>
              <a:t>13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건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등록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</a:rPr>
              <a:t>6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건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논문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</a:rPr>
              <a:t>26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건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시제품 제작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</a:rPr>
              <a:t>12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건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보고서 원문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</a:rPr>
              <a:t>7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건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카탈로그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홍보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전시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각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건 등 총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68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건</a:t>
            </a:r>
            <a:endParaRPr lang="en-US" altLang="ko-KR" sz="120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D9E658D-8471-1B4D-6C73-C3126DE06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434878"/>
              </p:ext>
            </p:extLst>
          </p:nvPr>
        </p:nvGraphicFramePr>
        <p:xfrm>
          <a:off x="269346" y="1592791"/>
          <a:ext cx="9367305" cy="411734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79049">
                  <a:extLst>
                    <a:ext uri="{9D8B030D-6E8A-4147-A177-3AD203B41FA5}">
                      <a16:colId xmlns:a16="http://schemas.microsoft.com/office/drawing/2014/main" val="4072397547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2240622671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1981229279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2964635939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907736654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2566394398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2500762095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1548189937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2305555711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1638440885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2855298321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3712200291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1120486650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2141213541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1839257515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936210931"/>
                    </a:ext>
                  </a:extLst>
                </a:gridCol>
                <a:gridCol w="493016">
                  <a:extLst>
                    <a:ext uri="{9D8B030D-6E8A-4147-A177-3AD203B41FA5}">
                      <a16:colId xmlns:a16="http://schemas.microsoft.com/office/drawing/2014/main" val="1602334075"/>
                    </a:ext>
                  </a:extLst>
                </a:gridCol>
              </a:tblGrid>
              <a:tr h="665144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두산전자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KETI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KTL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UNIST /</a:t>
                      </a:r>
                    </a:p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국립금오공과대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㈜알에프텍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717290"/>
                  </a:ext>
                </a:extLst>
              </a:tr>
              <a:tr h="3388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318278"/>
                  </a:ext>
                </a:extLst>
              </a:tr>
              <a:tr h="3891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특허 출원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13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149692"/>
                  </a:ext>
                </a:extLst>
              </a:tr>
              <a:tr h="3891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특허 등록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583270"/>
                  </a:ext>
                </a:extLst>
              </a:tr>
              <a:tr h="3891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논문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(SCI)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26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652092"/>
                  </a:ext>
                </a:extLst>
              </a:tr>
              <a:tr h="3891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보고서 원문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042869"/>
                  </a:ext>
                </a:extLst>
              </a:tr>
              <a:tr h="3891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시제품 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u="sng">
                          <a:solidFill>
                            <a:srgbClr val="0000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 u="sng">
                        <a:solidFill>
                          <a:srgbClr val="0000FF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u="sng">
                          <a:solidFill>
                            <a:srgbClr val="0000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 u="sng">
                        <a:solidFill>
                          <a:srgbClr val="0000FF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u="sng">
                          <a:solidFill>
                            <a:srgbClr val="0000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 u="sng">
                        <a:solidFill>
                          <a:srgbClr val="0000FF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12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695321"/>
                  </a:ext>
                </a:extLst>
              </a:tr>
              <a:tr h="3891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카탈로그 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234184"/>
                  </a:ext>
                </a:extLst>
              </a:tr>
              <a:tr h="3891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홍보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971802"/>
                  </a:ext>
                </a:extLst>
              </a:tr>
              <a:tr h="3891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11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68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550623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C2B1C1-EBEF-41CB-75FA-FAEA7B7BCD45}"/>
              </a:ext>
            </a:extLst>
          </p:cNvPr>
          <p:cNvSpPr/>
          <p:nvPr/>
        </p:nvSpPr>
        <p:spPr>
          <a:xfrm>
            <a:off x="1690578" y="2200940"/>
            <a:ext cx="606055" cy="362570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55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3C52B07-5566-A32C-FE1E-F685690236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1800" b="1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1800" b="1">
                <a:latin typeface="Noto Sans KR" panose="020B0200000000000000" pitchFamily="50" charset="-127"/>
                <a:ea typeface="Noto Sans KR" panose="020B0200000000000000" pitchFamily="50" charset="-127"/>
              </a:rPr>
              <a:t>과제 추진 계획</a:t>
            </a:r>
            <a:endParaRPr lang="ko-KR" altLang="en-US" sz="18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20A442-F3B8-7431-57A1-AE02C910E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8B113C4-B834-4BEA-901C-8797A7F90894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806324-F94E-3E20-639E-1753007A8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2104"/>
            <a:ext cx="9888745" cy="448472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3A6B391-6533-6C69-BCD4-96BC6F4B512F}"/>
              </a:ext>
            </a:extLst>
          </p:cNvPr>
          <p:cNvSpPr/>
          <p:nvPr/>
        </p:nvSpPr>
        <p:spPr>
          <a:xfrm>
            <a:off x="17255" y="2285921"/>
            <a:ext cx="2776746" cy="46166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단계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32BAAB3-9039-8C1A-44D6-68B06D687099}"/>
              </a:ext>
            </a:extLst>
          </p:cNvPr>
          <p:cNvSpPr/>
          <p:nvPr/>
        </p:nvSpPr>
        <p:spPr>
          <a:xfrm>
            <a:off x="2828528" y="2285921"/>
            <a:ext cx="4206256" cy="46166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단계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E46A8E1-4177-9F3B-E487-B5BF5F894946}"/>
              </a:ext>
            </a:extLst>
          </p:cNvPr>
          <p:cNvSpPr/>
          <p:nvPr/>
        </p:nvSpPr>
        <p:spPr>
          <a:xfrm>
            <a:off x="7069312" y="2285921"/>
            <a:ext cx="2819434" cy="46166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단계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119D74C-9534-9EF8-96ED-B3DB42ACF2B9}"/>
              </a:ext>
            </a:extLst>
          </p:cNvPr>
          <p:cNvSpPr/>
          <p:nvPr/>
        </p:nvSpPr>
        <p:spPr>
          <a:xfrm>
            <a:off x="37575" y="2805050"/>
            <a:ext cx="1354345" cy="30791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차년도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675B94-C8E5-2BEB-7175-601CDD1FCEA0}"/>
              </a:ext>
            </a:extLst>
          </p:cNvPr>
          <p:cNvSpPr/>
          <p:nvPr/>
        </p:nvSpPr>
        <p:spPr>
          <a:xfrm>
            <a:off x="1429495" y="2805050"/>
            <a:ext cx="1354345" cy="30791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차년도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A155FCD-4297-5B2C-DC47-986E087E59C6}"/>
              </a:ext>
            </a:extLst>
          </p:cNvPr>
          <p:cNvSpPr/>
          <p:nvPr/>
        </p:nvSpPr>
        <p:spPr>
          <a:xfrm>
            <a:off x="2833607" y="2805050"/>
            <a:ext cx="1354345" cy="30791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차년도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9B366A7-6141-71C2-944D-822AE8C1A1B6}"/>
              </a:ext>
            </a:extLst>
          </p:cNvPr>
          <p:cNvSpPr/>
          <p:nvPr/>
        </p:nvSpPr>
        <p:spPr>
          <a:xfrm>
            <a:off x="4248387" y="2805050"/>
            <a:ext cx="1354345" cy="30791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차년도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2EB5B31-4E04-35A7-C28C-80796A3478CB}"/>
              </a:ext>
            </a:extLst>
          </p:cNvPr>
          <p:cNvSpPr/>
          <p:nvPr/>
        </p:nvSpPr>
        <p:spPr>
          <a:xfrm>
            <a:off x="5661406" y="2805050"/>
            <a:ext cx="1354345" cy="30791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차년도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D7F0712-78A9-FFB7-FF74-841033E7CBA3}"/>
              </a:ext>
            </a:extLst>
          </p:cNvPr>
          <p:cNvSpPr/>
          <p:nvPr/>
        </p:nvSpPr>
        <p:spPr>
          <a:xfrm>
            <a:off x="7086074" y="2805050"/>
            <a:ext cx="1354345" cy="30791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차년도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81185DD-C066-EC6C-F62F-B7DF0508C491}"/>
              </a:ext>
            </a:extLst>
          </p:cNvPr>
          <p:cNvSpPr/>
          <p:nvPr/>
        </p:nvSpPr>
        <p:spPr>
          <a:xfrm>
            <a:off x="8506985" y="2805050"/>
            <a:ext cx="1354345" cy="30791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차년도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40E5E1-D3FD-AB76-21F8-2EF0130EA6C6}"/>
              </a:ext>
            </a:extLst>
          </p:cNvPr>
          <p:cNvSpPr txBox="1"/>
          <p:nvPr/>
        </p:nvSpPr>
        <p:spPr>
          <a:xfrm>
            <a:off x="207573" y="3202816"/>
            <a:ext cx="1098813" cy="4154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>
                <a:latin typeface="Noto Sans KR" panose="020B0200000000000000" pitchFamily="50" charset="-127"/>
                <a:ea typeface="Noto Sans KR" panose="020B0200000000000000" pitchFamily="50" charset="-127"/>
              </a:rPr>
              <a:t>1 BFIC </a:t>
            </a:r>
            <a:r>
              <a:rPr lang="ko-KR" altLang="en-US" sz="1050" b="1">
                <a:latin typeface="Noto Sans KR" panose="020B0200000000000000" pitchFamily="50" charset="-127"/>
                <a:ea typeface="Noto Sans KR" panose="020B0200000000000000" pitchFamily="50" charset="-127"/>
              </a:rPr>
              <a:t>기반</a:t>
            </a:r>
            <a:endParaRPr lang="en-US" altLang="ko-KR" sz="105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50" b="1">
                <a:latin typeface="Noto Sans KR" panose="020B0200000000000000" pitchFamily="50" charset="-127"/>
                <a:ea typeface="Noto Sans KR" panose="020B0200000000000000" pitchFamily="50" charset="-127"/>
              </a:rPr>
              <a:t>2x2 Unit array</a:t>
            </a:r>
            <a:endParaRPr lang="ko-KR" altLang="en-US" sz="105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AD9D2D-26AD-65C5-8128-873903EE5495}"/>
              </a:ext>
            </a:extLst>
          </p:cNvPr>
          <p:cNvSpPr txBox="1"/>
          <p:nvPr/>
        </p:nvSpPr>
        <p:spPr>
          <a:xfrm>
            <a:off x="1534260" y="3226348"/>
            <a:ext cx="1153034" cy="4154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>
                <a:latin typeface="Noto Sans KR" panose="020B0200000000000000" pitchFamily="50" charset="-127"/>
                <a:ea typeface="Noto Sans KR" panose="020B0200000000000000" pitchFamily="50" charset="-127"/>
              </a:rPr>
              <a:t>16 BFIC </a:t>
            </a:r>
            <a:r>
              <a:rPr lang="ko-KR" altLang="en-US" sz="1050" b="1">
                <a:latin typeface="Noto Sans KR" panose="020B0200000000000000" pitchFamily="50" charset="-127"/>
                <a:ea typeface="Noto Sans KR" panose="020B0200000000000000" pitchFamily="50" charset="-127"/>
              </a:rPr>
              <a:t>기반</a:t>
            </a:r>
            <a:endParaRPr lang="en-US" altLang="ko-KR" sz="105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50" b="1">
                <a:latin typeface="Noto Sans KR" panose="020B0200000000000000" pitchFamily="50" charset="-127"/>
                <a:ea typeface="Noto Sans KR" panose="020B0200000000000000" pitchFamily="50" charset="-127"/>
              </a:rPr>
              <a:t>8x8 Subarray</a:t>
            </a:r>
            <a:endParaRPr lang="ko-KR" altLang="en-US" sz="105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981A60-95D2-64C4-4A36-845CCD7CF6E7}"/>
              </a:ext>
            </a:extLst>
          </p:cNvPr>
          <p:cNvSpPr txBox="1"/>
          <p:nvPr/>
        </p:nvSpPr>
        <p:spPr>
          <a:xfrm>
            <a:off x="3018019" y="3289724"/>
            <a:ext cx="985520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>
                <a:latin typeface="Noto Sans KR" panose="020B0200000000000000" pitchFamily="50" charset="-127"/>
                <a:ea typeface="Noto Sans KR" panose="020B0200000000000000" pitchFamily="50" charset="-127"/>
              </a:rPr>
              <a:t>Unit module</a:t>
            </a:r>
            <a:endParaRPr lang="ko-KR" altLang="en-US" sz="105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6F985A-72C8-79F8-4401-158D4608F48A}"/>
              </a:ext>
            </a:extLst>
          </p:cNvPr>
          <p:cNvSpPr txBox="1"/>
          <p:nvPr/>
        </p:nvSpPr>
        <p:spPr>
          <a:xfrm>
            <a:off x="5694415" y="3178134"/>
            <a:ext cx="1321336" cy="400110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N x Unit module</a:t>
            </a:r>
          </a:p>
          <a:p>
            <a:pPr algn="ctr"/>
            <a:r>
              <a:rPr lang="ko-KR" altLang="en-US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기반 </a:t>
            </a:r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Tile </a:t>
            </a:r>
            <a:r>
              <a:rPr lang="ko-KR" altLang="en-US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확장 및 최적화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65FDBD-CD7E-3FBF-F101-CC60253A0BD7}"/>
              </a:ext>
            </a:extLst>
          </p:cNvPr>
          <p:cNvSpPr txBox="1"/>
          <p:nvPr/>
        </p:nvSpPr>
        <p:spPr>
          <a:xfrm>
            <a:off x="7121506" y="3139582"/>
            <a:ext cx="1283480" cy="4154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>
                <a:latin typeface="Noto Sans KR" panose="020B0200000000000000" pitchFamily="50" charset="-127"/>
                <a:ea typeface="Noto Sans KR" panose="020B0200000000000000" pitchFamily="50" charset="-127"/>
              </a:rPr>
              <a:t>Integration module</a:t>
            </a:r>
            <a:endParaRPr lang="ko-KR" altLang="en-US" sz="105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277200-78FD-9E4B-61B6-3FADAB8DAE15}"/>
              </a:ext>
            </a:extLst>
          </p:cNvPr>
          <p:cNvSpPr txBox="1"/>
          <p:nvPr/>
        </p:nvSpPr>
        <p:spPr>
          <a:xfrm>
            <a:off x="120388" y="4901479"/>
            <a:ext cx="1241052" cy="15947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2 x 2 Unit cell </a:t>
            </a:r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설계 및</a:t>
            </a:r>
            <a:endParaRPr lang="en-US" altLang="ko-KR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핵심 기술</a:t>
            </a:r>
            <a:endParaRPr lang="en-US" altLang="ko-KR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개발 연구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676E33-D1DA-DC47-AFAE-B4B57CACF7FD}"/>
              </a:ext>
            </a:extLst>
          </p:cNvPr>
          <p:cNvSpPr txBox="1"/>
          <p:nvPr/>
        </p:nvSpPr>
        <p:spPr>
          <a:xfrm>
            <a:off x="1486141" y="4901480"/>
            <a:ext cx="1241052" cy="15947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8 x 8 Subarray module </a:t>
            </a:r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설계 및 제작을 통한</a:t>
            </a:r>
            <a:endParaRPr lang="en-US" altLang="ko-KR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성능 측정 및</a:t>
            </a:r>
            <a:endParaRPr lang="en-US" altLang="ko-KR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분석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6A53A6-7B8E-8480-AF25-DDEF3D0A01EC}"/>
              </a:ext>
            </a:extLst>
          </p:cNvPr>
          <p:cNvSpPr txBox="1"/>
          <p:nvPr/>
        </p:nvSpPr>
        <p:spPr>
          <a:xfrm>
            <a:off x="1486141" y="4743581"/>
            <a:ext cx="1241052" cy="1795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endParaRPr lang="ko-KR" altLang="en-US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946C14-E28E-AEEB-8823-91E2E3585683}"/>
              </a:ext>
            </a:extLst>
          </p:cNvPr>
          <p:cNvSpPr txBox="1"/>
          <p:nvPr/>
        </p:nvSpPr>
        <p:spPr>
          <a:xfrm>
            <a:off x="1486141" y="6441985"/>
            <a:ext cx="1241052" cy="1795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endParaRPr lang="ko-KR" altLang="en-US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6ED7EF-5F0C-416F-CD9F-5117046A3B70}"/>
              </a:ext>
            </a:extLst>
          </p:cNvPr>
          <p:cNvSpPr txBox="1"/>
          <p:nvPr/>
        </p:nvSpPr>
        <p:spPr>
          <a:xfrm>
            <a:off x="2890253" y="4911639"/>
            <a:ext cx="1241052" cy="17200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대규모 배열 </a:t>
            </a:r>
            <a:endParaRPr lang="en-US" altLang="ko-KR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구성을 위한 </a:t>
            </a:r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Unit module </a:t>
            </a:r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설계 및 핵심 기술개발 연구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427570-A0C6-8EEC-902B-198B3DF53523}"/>
              </a:ext>
            </a:extLst>
          </p:cNvPr>
          <p:cNvSpPr txBox="1"/>
          <p:nvPr/>
        </p:nvSpPr>
        <p:spPr>
          <a:xfrm>
            <a:off x="4294365" y="4911639"/>
            <a:ext cx="1241052" cy="17200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Unit</a:t>
            </a:r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module</a:t>
            </a:r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을 활용한 </a:t>
            </a:r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Tile</a:t>
            </a:r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형</a:t>
            </a:r>
            <a:endParaRPr lang="en-US" altLang="ko-KR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N x Unit module </a:t>
            </a:r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단계적 확장 구현 및</a:t>
            </a:r>
            <a:endParaRPr lang="en-US" altLang="ko-KR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기술 고도화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C14B61-6E38-CFFB-3F5A-5F9AC4227674}"/>
              </a:ext>
            </a:extLst>
          </p:cNvPr>
          <p:cNvSpPr txBox="1"/>
          <p:nvPr/>
        </p:nvSpPr>
        <p:spPr>
          <a:xfrm>
            <a:off x="4278867" y="4743581"/>
            <a:ext cx="1241052" cy="1795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endParaRPr lang="ko-KR" altLang="en-US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C34019-5E0D-229C-E969-AE7C6651ACCD}"/>
              </a:ext>
            </a:extLst>
          </p:cNvPr>
          <p:cNvSpPr txBox="1"/>
          <p:nvPr/>
        </p:nvSpPr>
        <p:spPr>
          <a:xfrm>
            <a:off x="4278867" y="6509713"/>
            <a:ext cx="1241052" cy="1795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endParaRPr lang="ko-KR" altLang="en-US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085F3B-28EC-BCD2-24FE-3FE576A733F3}"/>
              </a:ext>
            </a:extLst>
          </p:cNvPr>
          <p:cNvSpPr txBox="1"/>
          <p:nvPr/>
        </p:nvSpPr>
        <p:spPr>
          <a:xfrm>
            <a:off x="5718052" y="4911639"/>
            <a:ext cx="1241052" cy="17200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N x unit module </a:t>
            </a:r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거대 배열 안테나 제작 및 성능 최적화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41D9ED-FA9E-29AB-FE58-82DEC2E79403}"/>
              </a:ext>
            </a:extLst>
          </p:cNvPr>
          <p:cNvSpPr txBox="1"/>
          <p:nvPr/>
        </p:nvSpPr>
        <p:spPr>
          <a:xfrm>
            <a:off x="7129253" y="4911639"/>
            <a:ext cx="1290605" cy="17200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통합형</a:t>
            </a:r>
            <a:endParaRPr lang="en-US" altLang="ko-KR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N x unit module</a:t>
            </a:r>
          </a:p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안테나 실환경 기반 성능검증 및 최적화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DEAED3-B05C-D858-DC9B-66CA87915103}"/>
              </a:ext>
            </a:extLst>
          </p:cNvPr>
          <p:cNvSpPr txBox="1"/>
          <p:nvPr/>
        </p:nvSpPr>
        <p:spPr>
          <a:xfrm>
            <a:off x="8563631" y="4911639"/>
            <a:ext cx="1241052" cy="17200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통합형 </a:t>
            </a:r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N x unit module </a:t>
            </a:r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안테나 환경 시험 검증 및 신뢰성 검증</a:t>
            </a:r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상용화 연구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898977-3788-DE2C-4673-788899A306B4}"/>
              </a:ext>
            </a:extLst>
          </p:cNvPr>
          <p:cNvSpPr txBox="1"/>
          <p:nvPr/>
        </p:nvSpPr>
        <p:spPr>
          <a:xfrm>
            <a:off x="8540456" y="4743581"/>
            <a:ext cx="1241052" cy="1795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endParaRPr lang="ko-KR" altLang="en-US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F0C7EB-AC39-1990-F624-7C7F4F8A3CAC}"/>
              </a:ext>
            </a:extLst>
          </p:cNvPr>
          <p:cNvSpPr txBox="1"/>
          <p:nvPr/>
        </p:nvSpPr>
        <p:spPr>
          <a:xfrm>
            <a:off x="4294365" y="3283607"/>
            <a:ext cx="1283480" cy="4154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>
                <a:latin typeface="Noto Sans KR" panose="020B0200000000000000" pitchFamily="50" charset="-127"/>
                <a:ea typeface="Noto Sans KR" panose="020B0200000000000000" pitchFamily="50" charset="-127"/>
              </a:rPr>
              <a:t>N x Unit module </a:t>
            </a:r>
            <a:r>
              <a:rPr lang="ko-KR" altLang="en-US" sz="1050" b="1">
                <a:latin typeface="Noto Sans KR" panose="020B0200000000000000" pitchFamily="50" charset="-127"/>
                <a:ea typeface="Noto Sans KR" panose="020B0200000000000000" pitchFamily="50" charset="-127"/>
              </a:rPr>
              <a:t>기반 </a:t>
            </a:r>
            <a:r>
              <a:rPr lang="en-US" altLang="ko-KR" sz="1050" b="1">
                <a:latin typeface="Noto Sans KR" panose="020B0200000000000000" pitchFamily="50" charset="-127"/>
                <a:ea typeface="Noto Sans KR" panose="020B0200000000000000" pitchFamily="50" charset="-127"/>
              </a:rPr>
              <a:t>Tile </a:t>
            </a:r>
            <a:r>
              <a:rPr lang="ko-KR" altLang="en-US" sz="1050" b="1">
                <a:latin typeface="Noto Sans KR" panose="020B0200000000000000" pitchFamily="50" charset="-127"/>
                <a:ea typeface="Noto Sans KR" panose="020B0200000000000000" pitchFamily="50" charset="-127"/>
              </a:rPr>
              <a:t>확장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4E7402-5AF2-A344-2FC2-A0D118933BF1}"/>
              </a:ext>
            </a:extLst>
          </p:cNvPr>
          <p:cNvSpPr txBox="1"/>
          <p:nvPr/>
        </p:nvSpPr>
        <p:spPr>
          <a:xfrm>
            <a:off x="92964" y="797907"/>
            <a:ext cx="9653650" cy="144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</a:rPr>
              <a:t>단위셀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</a:rPr>
              <a:t>(2x2)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 8x8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Subarray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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Unit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module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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N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x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unit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module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로 이어지는 단계적 배열 확장</a:t>
            </a:r>
            <a:endParaRPr lang="en-US" altLang="ko-KR" sz="1200">
              <a:latin typeface="Noto Sans KR" panose="020B0500000000000000" pitchFamily="34" charset="-127"/>
              <a:ea typeface="Noto Sans KR" panose="020B0500000000000000" pitchFamily="34" charset="-127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1~2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차년도</a:t>
            </a:r>
            <a:r>
              <a:rPr lang="en-US" altLang="ko-KR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: </a:t>
            </a:r>
            <a:r>
              <a:rPr lang="ko-KR" altLang="en-US" sz="120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기초 단위구조 설계 및 시제품 제작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·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성능 측정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3~4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차년도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: Unit Module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확장 설계 및 기술 고도화 수행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5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차년도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: N x Unit module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거대배열 시제품화 및 성능 최적화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6~7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차년도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: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실환경 기반 성능 검증과 환경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·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신뢰성 검증을 통해 상용화 수준의 통합 모듈 완성</a:t>
            </a:r>
            <a:endParaRPr lang="en-US" altLang="ko-KR" sz="120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9804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AFFE02B-8833-4F4F-862E-235445E05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ko-KR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4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 연차별 개발 내용 </a:t>
            </a:r>
            <a:r>
              <a:rPr lang="ko-KR" altLang="en-US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및 주요 결과물 </a:t>
            </a:r>
            <a:r>
              <a:rPr lang="en-US" altLang="ko-KR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- 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㈜두산전자사업 수지</a:t>
            </a:r>
            <a:endParaRPr lang="ko-KR" altLang="en-US" sz="18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BC896EA-BC5F-08D9-767B-1DF18351A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9906000" cy="365125"/>
          </a:xfrm>
        </p:spPr>
        <p:txBody>
          <a:bodyPr/>
          <a:lstStyle/>
          <a:p>
            <a:fld id="{E8B113C4-B834-4BEA-901C-8797A7F9089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AE64F575-A51F-A8C7-14AA-0C757B53A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576400"/>
              </p:ext>
            </p:extLst>
          </p:nvPr>
        </p:nvGraphicFramePr>
        <p:xfrm>
          <a:off x="482467" y="786088"/>
          <a:ext cx="8941065" cy="570678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44737">
                  <a:extLst>
                    <a:ext uri="{9D8B030D-6E8A-4147-A177-3AD203B41FA5}">
                      <a16:colId xmlns:a16="http://schemas.microsoft.com/office/drawing/2014/main" val="660627054"/>
                    </a:ext>
                  </a:extLst>
                </a:gridCol>
                <a:gridCol w="1014260">
                  <a:extLst>
                    <a:ext uri="{9D8B030D-6E8A-4147-A177-3AD203B41FA5}">
                      <a16:colId xmlns:a16="http://schemas.microsoft.com/office/drawing/2014/main" val="2138462528"/>
                    </a:ext>
                  </a:extLst>
                </a:gridCol>
                <a:gridCol w="6982068">
                  <a:extLst>
                    <a:ext uri="{9D8B030D-6E8A-4147-A177-3AD203B41FA5}">
                      <a16:colId xmlns:a16="http://schemas.microsoft.com/office/drawing/2014/main" val="636863942"/>
                    </a:ext>
                  </a:extLst>
                </a:gridCol>
              </a:tblGrid>
              <a:tr h="3727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 및 연차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연차별 개발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715467"/>
                  </a:ext>
                </a:extLst>
              </a:tr>
              <a:tr h="70034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송수신 모듈 구조 설계 및 기본 성능 기준 수립</a:t>
                      </a:r>
                      <a:endParaRPr lang="en-US" altLang="ko-KR" sz="1100" b="1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송수신 모듈 아키텍처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·RF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버짓 설계 및 단일 채널 검증</a:t>
                      </a:r>
                      <a:endParaRPr lang="en-US" altLang="ko-KR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소재 특성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·PCB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스택업 및 단일 모듈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SI/PI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특성 연구</a:t>
                      </a:r>
                      <a:endParaRPr lang="en-US" altLang="ko-KR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메타표면 유닛셀 기본 설계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방열 레이돔 기초 열해석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451275"/>
                  </a:ext>
                </a:extLst>
              </a:tr>
              <a:tr h="7003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2027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Subarray </a:t>
                      </a:r>
                      <a:r>
                        <a:rPr lang="ko-KR" altLang="en-US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송수신 모듈 개발 및 성능 측정</a:t>
                      </a:r>
                      <a:endParaRPr lang="en-US" altLang="ko-KR" sz="1100" b="1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빔포밍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IC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패키징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미세공정 고도화 및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8x8 Subarray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공정 개발</a:t>
                      </a:r>
                      <a:endParaRPr lang="en-US" altLang="ko-KR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배열환경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RF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성능저하 요인 및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SI/PI·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열 통합 분석</a:t>
                      </a:r>
                      <a:endParaRPr lang="en-US" altLang="ko-KR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8x8 Subarray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배열이득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·EIRP·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빔조향 특성 측정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483474"/>
                  </a:ext>
                </a:extLst>
              </a:tr>
              <a:tr h="700349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2028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8x8</a:t>
                      </a:r>
                      <a:r>
                        <a:rPr lang="ko-KR" altLang="en-US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altLang="ko-KR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Subarray</a:t>
                      </a:r>
                      <a:r>
                        <a:rPr lang="ko-KR" altLang="en-US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기반 </a:t>
                      </a:r>
                      <a:r>
                        <a:rPr lang="en-US" altLang="ko-KR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Unit module </a:t>
                      </a:r>
                      <a:r>
                        <a:rPr lang="ko-KR" altLang="en-US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확장 설계</a:t>
                      </a:r>
                      <a:endParaRPr lang="en-US" altLang="ko-KR" sz="1100" b="1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안테나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·RF·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전원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제어 통합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Unit module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확장 설계</a:t>
                      </a:r>
                      <a:endParaRPr lang="en-US" altLang="ko-KR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대규모 적층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PCB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SI/PI·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트랜지션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발열 특성 연구</a:t>
                      </a:r>
                      <a:endParaRPr lang="en-US" altLang="ko-KR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다채널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BFIC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제어 및 송수신 모듈 성능 분석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658265"/>
                  </a:ext>
                </a:extLst>
              </a:tr>
              <a:tr h="7003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2029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 x Unit module </a:t>
                      </a:r>
                      <a:r>
                        <a:rPr lang="ko-KR" altLang="en-US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확장 및 안정화</a:t>
                      </a:r>
                      <a:endParaRPr lang="en-US" altLang="ko-KR" sz="1100" b="1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 x Module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상호결합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송수신 격리 개선 및 방열구조 적용</a:t>
                      </a:r>
                      <a:endParaRPr lang="en-US" altLang="ko-KR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다채널 동기화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위상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진폭 정합 안정화 기술 개발</a:t>
                      </a:r>
                      <a:endParaRPr lang="en-US" altLang="ko-KR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열 안정성 및 양상성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신뢰성 확보 연구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671158"/>
                  </a:ext>
                </a:extLst>
              </a:tr>
              <a:tr h="7003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2030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 x Unit module </a:t>
                      </a:r>
                      <a:r>
                        <a:rPr lang="ko-KR" altLang="en-US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개발 및 제작 검증</a:t>
                      </a:r>
                      <a:endParaRPr lang="en-US" altLang="ko-KR" sz="1100" b="1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보정 기반 채널 정합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·RF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성능 연구 및 제작 검증</a:t>
                      </a:r>
                      <a:endParaRPr lang="en-US" altLang="ko-KR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환경 변화 조건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RF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성능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열 안정성 연구</a:t>
                      </a:r>
                      <a:endParaRPr lang="en-US" altLang="ko-KR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다중 빔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빔조향 제어 및 시스템 통합 성능 최적화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27621"/>
                  </a:ext>
                </a:extLst>
              </a:tr>
              <a:tr h="70034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2031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 x Unit module </a:t>
                      </a:r>
                      <a:r>
                        <a:rPr lang="ko-KR" altLang="en-US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모듈 성능 검증 및 최적화</a:t>
                      </a:r>
                      <a:endParaRPr lang="en-US" altLang="ko-KR" sz="1100" b="1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레이돔 일체형 구조의 실환경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RF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특성 통합 최적화</a:t>
                      </a:r>
                      <a:endParaRPr lang="en-US" altLang="ko-KR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실환경 조건 통합 시스템 안정성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빔포밍 특성 연구</a:t>
                      </a:r>
                      <a:endParaRPr lang="en-US" altLang="ko-KR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SET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제조사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RFQ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대응 및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3GPP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표준 기반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Scalable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배치 연구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690970"/>
                  </a:ext>
                </a:extLst>
              </a:tr>
              <a:tr h="7003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2032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송수신 모듈 환경 기반 성능 검증 및 특성 최적화</a:t>
                      </a:r>
                      <a:endParaRPr lang="en-US" altLang="ko-KR" sz="1100" b="1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통합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ESA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시스템 구성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동작 및 시스템 레벨 성능 검증</a:t>
                      </a:r>
                      <a:endParaRPr lang="en-US" altLang="ko-KR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교체형 방사구조 기반 확장성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다중 빔 성능 연구</a:t>
                      </a:r>
                      <a:endParaRPr lang="en-US" altLang="ko-KR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통신 성능 최적화 및 표준 라이브러리 구축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19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791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30F67D-5362-A592-12DC-2BC637365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8B113C4-B834-4BEA-901C-8797A7F90894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9B00F235-05E2-EB5B-68B8-1CCE84379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</p:spPr>
        <p:txBody>
          <a:bodyPr>
            <a:noAutofit/>
          </a:bodyPr>
          <a:lstStyle/>
          <a:p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4-1.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차년도 연구개발 내용 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– 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㈜두산전자사업 수지</a:t>
            </a:r>
            <a:endParaRPr lang="ko-KR" altLang="en-US" sz="18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DA332BE-EA48-FD29-547C-FC00B8CFC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170166"/>
              </p:ext>
            </p:extLst>
          </p:nvPr>
        </p:nvGraphicFramePr>
        <p:xfrm>
          <a:off x="269346" y="1227666"/>
          <a:ext cx="9367308" cy="5270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22436">
                  <a:extLst>
                    <a:ext uri="{9D8B030D-6E8A-4147-A177-3AD203B41FA5}">
                      <a16:colId xmlns:a16="http://schemas.microsoft.com/office/drawing/2014/main" val="1783963196"/>
                    </a:ext>
                  </a:extLst>
                </a:gridCol>
                <a:gridCol w="3122436">
                  <a:extLst>
                    <a:ext uri="{9D8B030D-6E8A-4147-A177-3AD203B41FA5}">
                      <a16:colId xmlns:a16="http://schemas.microsoft.com/office/drawing/2014/main" val="3900016493"/>
                    </a:ext>
                  </a:extLst>
                </a:gridCol>
                <a:gridCol w="3122436">
                  <a:extLst>
                    <a:ext uri="{9D8B030D-6E8A-4147-A177-3AD203B41FA5}">
                      <a16:colId xmlns:a16="http://schemas.microsoft.com/office/drawing/2014/main" val="246426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송수신 모듈 아키텍쳐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·RF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버짓 설계 및 단일 채널 검증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소재 특성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·PCB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스택업 및 단일 모듈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SI/PI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특성 연구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메타표면 유닛셀 기본 설계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방열 레이돔 기초 열해석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560133"/>
                  </a:ext>
                </a:extLst>
              </a:tr>
              <a:tr h="4752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379331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1C8D3804-55CB-ACF8-446D-8A6A08CB9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445" y="2060899"/>
            <a:ext cx="1575515" cy="109364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FA92331-530E-BF92-C09A-9DFF0355C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204" y="1919284"/>
            <a:ext cx="1327832" cy="133358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8EF5102-EFE2-B92F-CDEC-9E1B437EC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834" y="3254574"/>
            <a:ext cx="2176331" cy="166304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CD49DDE-FF89-4272-4F7F-2A2C2B329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655" y="1919284"/>
            <a:ext cx="2033379" cy="114883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CBE8970-6221-DA0A-0B0A-3D7CFA751F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8655" y="3247827"/>
            <a:ext cx="2056644" cy="1663045"/>
          </a:xfrm>
          <a:prstGeom prst="rect">
            <a:avLst/>
          </a:prstGeom>
        </p:spPr>
      </p:pic>
      <p:pic>
        <p:nvPicPr>
          <p:cNvPr id="22" name="Picture 42" descr="image.png">
            <a:extLst>
              <a:ext uri="{FF2B5EF4-FFF2-40B4-BE49-F238E27FC236}">
                <a16:creationId xmlns:a16="http://schemas.microsoft.com/office/drawing/2014/main" id="{A03CE80E-F18D-F2FA-BA61-61BC501763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141" y="2014143"/>
            <a:ext cx="2176330" cy="175676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F711AF0-1857-41AE-3FD8-4E9D8BE711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420" y="3862746"/>
            <a:ext cx="2621773" cy="11478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38FA359-F559-D064-804A-A58B282C1010}"/>
              </a:ext>
            </a:extLst>
          </p:cNvPr>
          <p:cNvSpPr txBox="1"/>
          <p:nvPr/>
        </p:nvSpPr>
        <p:spPr>
          <a:xfrm>
            <a:off x="329665" y="5112835"/>
            <a:ext cx="2957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위성 링크 버짓 기반 송수신 모듈 성능 요구사항 도출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P1dB, NF, Gain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등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RF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성능지표 정의 및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시스템 요구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EIRP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기준 전력 분배 구조 특성 분석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DEF4AC-BA37-1C8C-E859-F84787908481}"/>
              </a:ext>
            </a:extLst>
          </p:cNvPr>
          <p:cNvSpPr txBox="1"/>
          <p:nvPr/>
        </p:nvSpPr>
        <p:spPr>
          <a:xfrm>
            <a:off x="3474358" y="5112835"/>
            <a:ext cx="2957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송수신 모듈 회로 구조 및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PCB layout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에 따른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RF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특성 연구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소재 및 레이아웃 구조 변화에 따른 전송 특성 변화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단일 모듈에 대한 신호 무결성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(SI)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및 전원 무결성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(PI)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특성 연구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0C80F6-DD7E-B827-CF55-41128F152FB7}"/>
              </a:ext>
            </a:extLst>
          </p:cNvPr>
          <p:cNvSpPr txBox="1"/>
          <p:nvPr/>
        </p:nvSpPr>
        <p:spPr>
          <a:xfrm>
            <a:off x="6576703" y="5112835"/>
            <a:ext cx="2957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Multilayer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유전체를 활용하여 다중 공진 형성 및 초광대역 특성 확보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레이돔에 사용하는 다양한 방열 특성 소재 및 선행 기술 조사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64B56F-870C-64B1-41E4-E853B4D2A074}"/>
              </a:ext>
            </a:extLst>
          </p:cNvPr>
          <p:cNvSpPr txBox="1"/>
          <p:nvPr/>
        </p:nvSpPr>
        <p:spPr>
          <a:xfrm>
            <a:off x="136187" y="729574"/>
            <a:ext cx="95233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핵심목표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송수신 모듈 구조 설계 및 기본 성능 기준 수립</a:t>
            </a:r>
            <a:endParaRPr lang="en-US" altLang="ko-KR" sz="16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2EF362-55C9-5159-AD41-F105CBD1EE3D}"/>
              </a:ext>
            </a:extLst>
          </p:cNvPr>
          <p:cNvSpPr/>
          <p:nvPr/>
        </p:nvSpPr>
        <p:spPr>
          <a:xfrm>
            <a:off x="379306" y="1827164"/>
            <a:ext cx="2957281" cy="1876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974790E-C98F-5367-8448-54C9A571D80C}"/>
              </a:ext>
            </a:extLst>
          </p:cNvPr>
          <p:cNvSpPr/>
          <p:nvPr/>
        </p:nvSpPr>
        <p:spPr>
          <a:xfrm>
            <a:off x="379306" y="3784881"/>
            <a:ext cx="2957281" cy="1225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829E028-C1E5-B238-A183-2E4845F8D16A}"/>
              </a:ext>
            </a:extLst>
          </p:cNvPr>
          <p:cNvSpPr/>
          <p:nvPr/>
        </p:nvSpPr>
        <p:spPr>
          <a:xfrm>
            <a:off x="3447172" y="1842375"/>
            <a:ext cx="3017135" cy="13335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44C2705-0BC7-ED3A-7ECC-39E855E5243B}"/>
              </a:ext>
            </a:extLst>
          </p:cNvPr>
          <p:cNvSpPr/>
          <p:nvPr/>
        </p:nvSpPr>
        <p:spPr>
          <a:xfrm>
            <a:off x="3447172" y="3302715"/>
            <a:ext cx="3017135" cy="16630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0F8F4AD-5B59-4C75-A3B7-86B0969431F8}"/>
              </a:ext>
            </a:extLst>
          </p:cNvPr>
          <p:cNvSpPr/>
          <p:nvPr/>
        </p:nvSpPr>
        <p:spPr>
          <a:xfrm>
            <a:off x="6576703" y="1829784"/>
            <a:ext cx="3017135" cy="12830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5D9544C-D063-01BA-A6A5-D80B517AD2A6}"/>
              </a:ext>
            </a:extLst>
          </p:cNvPr>
          <p:cNvSpPr/>
          <p:nvPr/>
        </p:nvSpPr>
        <p:spPr>
          <a:xfrm>
            <a:off x="6576703" y="3229294"/>
            <a:ext cx="3017135" cy="17364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83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20F6E-46A0-CBB1-45C0-185B1718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9E8224-FF12-2DB2-152C-6049072FB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8B113C4-B834-4BEA-901C-8797A7F90894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4AB6DACD-9E08-C867-18D0-4D38B8F38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</p:spPr>
        <p:txBody>
          <a:bodyPr>
            <a:noAutofit/>
          </a:bodyPr>
          <a:lstStyle/>
          <a:p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4-2.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2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차년도 연구개발 내용 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– 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㈜두산전자사업 수지</a:t>
            </a:r>
            <a:endParaRPr lang="ko-KR" altLang="en-US" sz="18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841A726-3D3B-EEEB-E5C6-3FA65AA9C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377121"/>
              </p:ext>
            </p:extLst>
          </p:nvPr>
        </p:nvGraphicFramePr>
        <p:xfrm>
          <a:off x="269346" y="1227666"/>
          <a:ext cx="9367308" cy="5270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22436">
                  <a:extLst>
                    <a:ext uri="{9D8B030D-6E8A-4147-A177-3AD203B41FA5}">
                      <a16:colId xmlns:a16="http://schemas.microsoft.com/office/drawing/2014/main" val="1783963196"/>
                    </a:ext>
                  </a:extLst>
                </a:gridCol>
                <a:gridCol w="3122436">
                  <a:extLst>
                    <a:ext uri="{9D8B030D-6E8A-4147-A177-3AD203B41FA5}">
                      <a16:colId xmlns:a16="http://schemas.microsoft.com/office/drawing/2014/main" val="3900016493"/>
                    </a:ext>
                  </a:extLst>
                </a:gridCol>
                <a:gridCol w="3122436">
                  <a:extLst>
                    <a:ext uri="{9D8B030D-6E8A-4147-A177-3AD203B41FA5}">
                      <a16:colId xmlns:a16="http://schemas.microsoft.com/office/drawing/2014/main" val="246426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빔포밍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IC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패키징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미세공정 고도화 및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8x8 Subarray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공정 개발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배열환경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RF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성능 저하 요인 및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SI/PI·</a:t>
                      </a:r>
                    </a:p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열 통합 분석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8x8 Subarray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배열이득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·EIRP·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빔조향 특성 측정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560133"/>
                  </a:ext>
                </a:extLst>
              </a:tr>
              <a:tr h="4752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37933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16F61578-998A-5958-89B1-1712ABAAD9A8}"/>
              </a:ext>
            </a:extLst>
          </p:cNvPr>
          <p:cNvSpPr txBox="1"/>
          <p:nvPr/>
        </p:nvSpPr>
        <p:spPr>
          <a:xfrm>
            <a:off x="329665" y="5112835"/>
            <a:ext cx="2957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신호 비아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전송선로 및 급전 구조에 따른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RF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특성 연구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비아 구조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직경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길이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배치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에 따른 삽입 손실 및 반사손실 특성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저손실 유전체 및 적층 구조에 따른 전송 특성 연구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F8F9C8-1C9E-CC15-891C-72AFC9772351}"/>
              </a:ext>
            </a:extLst>
          </p:cNvPr>
          <p:cNvSpPr txBox="1"/>
          <p:nvPr/>
        </p:nvSpPr>
        <p:spPr>
          <a:xfrm>
            <a:off x="3474358" y="5112835"/>
            <a:ext cx="2957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고주파 신호 전달 환경에서의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SI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특성 및 신호 열화 요인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전원 변동이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RF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출력 및 빔포밍 성능에 미치는 영향 연구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배열 홪강 시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SI/PI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및 열 특성 변화에 대한 통합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8D5598-78F7-CE45-FB03-C473633596BA}"/>
              </a:ext>
            </a:extLst>
          </p:cNvPr>
          <p:cNvSpPr txBox="1"/>
          <p:nvPr/>
        </p:nvSpPr>
        <p:spPr>
          <a:xfrm>
            <a:off x="6576703" y="5112835"/>
            <a:ext cx="2957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8x8 Subarray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기반 배열 이득 및 방사 패턴 측정 및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Subarray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기준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EIRP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산출 및 성능 검증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빔포밍 및 빔조향 특성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조향각별 패턴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, EIRP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변화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연구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9992C-EF1F-7CD5-B674-74DDD473D1FA}"/>
              </a:ext>
            </a:extLst>
          </p:cNvPr>
          <p:cNvSpPr txBox="1"/>
          <p:nvPr/>
        </p:nvSpPr>
        <p:spPr>
          <a:xfrm>
            <a:off x="136187" y="729574"/>
            <a:ext cx="95233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핵심목표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: Subarray 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송수신 모듈 개발 및 성능 측정</a:t>
            </a:r>
            <a:endParaRPr lang="en-US" altLang="ko-KR" sz="16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05A2C92-097F-EC9C-0E87-C81B632DC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94" y="1942425"/>
            <a:ext cx="3027421" cy="107561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9D8E04F-E346-D95C-D8D2-25963E3E7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06" y="3079274"/>
            <a:ext cx="2741327" cy="6994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7298D4A-888A-2262-830E-17361E248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199" y="3852994"/>
            <a:ext cx="1413539" cy="118007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E78CC17-1176-E5D0-3DEA-09144C5C3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292" y="1865779"/>
            <a:ext cx="2655416" cy="178785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984B5E4-513A-566F-96F6-CF802CF76F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290" y="3799813"/>
            <a:ext cx="2655415" cy="107561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7E86CC6-44A9-C99F-1C45-07EF077CFA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982" y="2042729"/>
            <a:ext cx="2972215" cy="2838846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8E87BFED-293C-E9FD-1AA6-1960F2200292}"/>
              </a:ext>
            </a:extLst>
          </p:cNvPr>
          <p:cNvSpPr/>
          <p:nvPr/>
        </p:nvSpPr>
        <p:spPr>
          <a:xfrm>
            <a:off x="336984" y="1845695"/>
            <a:ext cx="2957281" cy="11723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903B336-9619-CA67-9179-94B8FD5A7292}"/>
              </a:ext>
            </a:extLst>
          </p:cNvPr>
          <p:cNvSpPr/>
          <p:nvPr/>
        </p:nvSpPr>
        <p:spPr>
          <a:xfrm>
            <a:off x="336984" y="3049894"/>
            <a:ext cx="2957281" cy="723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471354E-73EB-ED19-9A34-FDC56D87DFD0}"/>
              </a:ext>
            </a:extLst>
          </p:cNvPr>
          <p:cNvSpPr/>
          <p:nvPr/>
        </p:nvSpPr>
        <p:spPr>
          <a:xfrm>
            <a:off x="336984" y="3825662"/>
            <a:ext cx="2957281" cy="12074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6BC0C63-017D-3082-1EE4-3ED7B0309D59}"/>
              </a:ext>
            </a:extLst>
          </p:cNvPr>
          <p:cNvSpPr/>
          <p:nvPr/>
        </p:nvSpPr>
        <p:spPr>
          <a:xfrm>
            <a:off x="3460483" y="3653631"/>
            <a:ext cx="2957281" cy="13693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4A89017-2528-F890-5CA1-F1CE52F250C3}"/>
              </a:ext>
            </a:extLst>
          </p:cNvPr>
          <p:cNvSpPr/>
          <p:nvPr/>
        </p:nvSpPr>
        <p:spPr>
          <a:xfrm>
            <a:off x="6576702" y="2059074"/>
            <a:ext cx="2957281" cy="2838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620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A1116-8BF1-2DA7-1023-4F516A727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BA068C-E2BD-7767-E320-5AD34DE26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8B113C4-B834-4BEA-901C-8797A7F90894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FE8910B8-FA4B-1A3D-9BC1-A9F246C8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</p:spPr>
        <p:txBody>
          <a:bodyPr>
            <a:noAutofit/>
          </a:bodyPr>
          <a:lstStyle/>
          <a:p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4-3.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3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차년도 연구개발 내용 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– 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㈜두산전자사업 수지</a:t>
            </a:r>
            <a:endParaRPr lang="ko-KR" altLang="en-US" sz="18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A3D432C-D70B-FC6D-6016-CE4DE87F6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76547"/>
              </p:ext>
            </p:extLst>
          </p:nvPr>
        </p:nvGraphicFramePr>
        <p:xfrm>
          <a:off x="269346" y="1227666"/>
          <a:ext cx="9367308" cy="5270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22436">
                  <a:extLst>
                    <a:ext uri="{9D8B030D-6E8A-4147-A177-3AD203B41FA5}">
                      <a16:colId xmlns:a16="http://schemas.microsoft.com/office/drawing/2014/main" val="1783963196"/>
                    </a:ext>
                  </a:extLst>
                </a:gridCol>
                <a:gridCol w="3122436">
                  <a:extLst>
                    <a:ext uri="{9D8B030D-6E8A-4147-A177-3AD203B41FA5}">
                      <a16:colId xmlns:a16="http://schemas.microsoft.com/office/drawing/2014/main" val="3900016493"/>
                    </a:ext>
                  </a:extLst>
                </a:gridCol>
                <a:gridCol w="3122436">
                  <a:extLst>
                    <a:ext uri="{9D8B030D-6E8A-4147-A177-3AD203B41FA5}">
                      <a16:colId xmlns:a16="http://schemas.microsoft.com/office/drawing/2014/main" val="246426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안테나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·RF·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전원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제어 통합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Unit module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확장 설계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대규모 적층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PCB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SI/PI·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트랜지션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발열 특성 연구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다채널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BFIC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제어 및 송수신 모듈 성능 분석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검증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560133"/>
                  </a:ext>
                </a:extLst>
              </a:tr>
              <a:tr h="4752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37933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164467B-679A-5BF3-136D-40D6FE48E0C5}"/>
              </a:ext>
            </a:extLst>
          </p:cNvPr>
          <p:cNvSpPr txBox="1"/>
          <p:nvPr/>
        </p:nvSpPr>
        <p:spPr>
          <a:xfrm>
            <a:off x="329665" y="5112835"/>
            <a:ext cx="2957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Subarray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 기반 배열 확장을 고려한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Unit module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구조 설계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안테나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, RF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모듈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전원 및 제어 신호 통합 구조 설계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상위 배열 확장을 위한 타일형 모듈 인터페이스 설계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AB0E8C-7732-CFF0-CE01-CD4A7EB5F6FE}"/>
              </a:ext>
            </a:extLst>
          </p:cNvPr>
          <p:cNvSpPr txBox="1"/>
          <p:nvPr/>
        </p:nvSpPr>
        <p:spPr>
          <a:xfrm>
            <a:off x="3474358" y="5112835"/>
            <a:ext cx="2957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다채널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RF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및 고속 신호 전달 환경에서의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SI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설계 인자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채널 간 간섭 및 반사 특성에 따른 신호 무결성 연구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대규모 전력 분배 환경에서 전압 강하 및 전류 분포 특성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0A798-C3B3-81CA-CF0D-549CE497E654}"/>
              </a:ext>
            </a:extLst>
          </p:cNvPr>
          <p:cNvSpPr txBox="1"/>
          <p:nvPr/>
        </p:nvSpPr>
        <p:spPr>
          <a:xfrm>
            <a:off x="6576703" y="5112835"/>
            <a:ext cx="2957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다채널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BFIC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제어를 위한 데이터 인터페이스 구조 특성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송신 출력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선형성 및 신호 품질 특성 평가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주파수 응답 및 대역 내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Gain flatness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특성 평가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1E2D0-8EA2-302F-7830-BFA2D3BE6E86}"/>
              </a:ext>
            </a:extLst>
          </p:cNvPr>
          <p:cNvSpPr txBox="1"/>
          <p:nvPr/>
        </p:nvSpPr>
        <p:spPr>
          <a:xfrm>
            <a:off x="136187" y="729574"/>
            <a:ext cx="95233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핵심목표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: 8x8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Subarray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 기반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Unit module 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확장 설계</a:t>
            </a:r>
            <a:endParaRPr lang="en-US" altLang="ko-KR" sz="16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0070D6A-35BF-A070-ED1E-88F21C17F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3" y="2082877"/>
            <a:ext cx="2742883" cy="26922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EAF3BCB-E9C9-34BB-8901-2302096ED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07" y="1869069"/>
            <a:ext cx="2425737" cy="147724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AE3B4BB-AF15-9849-3F07-A89B02434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783" y="3346315"/>
            <a:ext cx="2425737" cy="154059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06AC4BE-4822-FFE4-E99B-940B695D5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863" y="1795238"/>
            <a:ext cx="2970960" cy="148996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A1D8EAE-7975-877B-B5CC-7D536164BF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1664" y="3353917"/>
            <a:ext cx="2667357" cy="1690206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D2497A-0390-249F-2867-C50C10C63F42}"/>
              </a:ext>
            </a:extLst>
          </p:cNvPr>
          <p:cNvSpPr/>
          <p:nvPr/>
        </p:nvSpPr>
        <p:spPr>
          <a:xfrm>
            <a:off x="379306" y="2040972"/>
            <a:ext cx="2856333" cy="2822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E5197B-BA7B-B128-FC8B-CF1928CCDBAD}"/>
              </a:ext>
            </a:extLst>
          </p:cNvPr>
          <p:cNvSpPr/>
          <p:nvPr/>
        </p:nvSpPr>
        <p:spPr>
          <a:xfrm>
            <a:off x="3550484" y="1827164"/>
            <a:ext cx="2856333" cy="3126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412C6EB-57E5-3A56-A09E-A72D1FC44B67}"/>
              </a:ext>
            </a:extLst>
          </p:cNvPr>
          <p:cNvSpPr/>
          <p:nvPr/>
        </p:nvSpPr>
        <p:spPr>
          <a:xfrm>
            <a:off x="6593569" y="1795238"/>
            <a:ext cx="2970960" cy="1489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31D4865-8706-26E3-699E-BD34E3652CA6}"/>
              </a:ext>
            </a:extLst>
          </p:cNvPr>
          <p:cNvSpPr/>
          <p:nvPr/>
        </p:nvSpPr>
        <p:spPr>
          <a:xfrm>
            <a:off x="6593569" y="3371628"/>
            <a:ext cx="2970960" cy="16724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674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A9B9B-C5AE-057C-5C47-A5A58EBA9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A35F61-4E92-A030-E666-0F14FCCDF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8B113C4-B834-4BEA-901C-8797A7F90894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004E7E2B-B26C-367E-5EF1-C8BFA4631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</p:spPr>
        <p:txBody>
          <a:bodyPr>
            <a:noAutofit/>
          </a:bodyPr>
          <a:lstStyle/>
          <a:p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4-4.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4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차년도 연구개발 내용 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– 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㈜두산전자사업 수지</a:t>
            </a:r>
            <a:endParaRPr lang="ko-KR" altLang="en-US" sz="18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D8CA6BA-5B83-6644-AACC-2AD46FE5B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547772"/>
              </p:ext>
            </p:extLst>
          </p:nvPr>
        </p:nvGraphicFramePr>
        <p:xfrm>
          <a:off x="269346" y="1227666"/>
          <a:ext cx="9367308" cy="5270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22436">
                  <a:extLst>
                    <a:ext uri="{9D8B030D-6E8A-4147-A177-3AD203B41FA5}">
                      <a16:colId xmlns:a16="http://schemas.microsoft.com/office/drawing/2014/main" val="1783963196"/>
                    </a:ext>
                  </a:extLst>
                </a:gridCol>
                <a:gridCol w="3122436">
                  <a:extLst>
                    <a:ext uri="{9D8B030D-6E8A-4147-A177-3AD203B41FA5}">
                      <a16:colId xmlns:a16="http://schemas.microsoft.com/office/drawing/2014/main" val="3900016493"/>
                    </a:ext>
                  </a:extLst>
                </a:gridCol>
                <a:gridCol w="3122436">
                  <a:extLst>
                    <a:ext uri="{9D8B030D-6E8A-4147-A177-3AD203B41FA5}">
                      <a16:colId xmlns:a16="http://schemas.microsoft.com/office/drawing/2014/main" val="246426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 x Module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상호결합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송수신 격리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개선 및 방열구조 적용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다채널 동기화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위상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진폭 정합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안정화 기술 개발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열 안정성 및 양상성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신뢰성 확보 연구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560133"/>
                  </a:ext>
                </a:extLst>
              </a:tr>
              <a:tr h="4752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37933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D48B62BB-BD3A-13A6-E566-9EFB8DE8D424}"/>
              </a:ext>
            </a:extLst>
          </p:cNvPr>
          <p:cNvSpPr txBox="1"/>
          <p:nvPr/>
        </p:nvSpPr>
        <p:spPr>
          <a:xfrm>
            <a:off x="329665" y="5112835"/>
            <a:ext cx="2957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개구면 내 다수 소자 간 전자기적 결합 매커니즘 분석 및 모델링 연구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안테나 간 상호 결합 증가에 따른 빔 왜곡 및 방사 특성 변화 연구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배열 확장에 따른 간섭 증가 및 성능 저하 요인 분석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586D50-28CF-59CE-0DD0-15B82384EE0F}"/>
              </a:ext>
            </a:extLst>
          </p:cNvPr>
          <p:cNvSpPr txBox="1"/>
          <p:nvPr/>
        </p:nvSpPr>
        <p:spPr>
          <a:xfrm>
            <a:off x="3474358" y="5112835"/>
            <a:ext cx="2957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다수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BFIC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간 분산 동기화 구조의 동작 원리 연구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채널 간 위상 및 진폭 정합 오차 발생 요인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6DE266-6A38-E4D4-741C-81F23F7E2D86}"/>
              </a:ext>
            </a:extLst>
          </p:cNvPr>
          <p:cNvSpPr txBox="1"/>
          <p:nvPr/>
        </p:nvSpPr>
        <p:spPr>
          <a:xfrm>
            <a:off x="6576703" y="5112835"/>
            <a:ext cx="2957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열 분포 변화에 따른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RF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성능 영향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고출력 동작 시 열 집중 및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thermal instability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발생 가능성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공정 편차 및 조립 오차가 성능에 미치는 영향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8B58D0-B816-08A5-C6DA-D6B3C7BED9EF}"/>
              </a:ext>
            </a:extLst>
          </p:cNvPr>
          <p:cNvSpPr txBox="1"/>
          <p:nvPr/>
        </p:nvSpPr>
        <p:spPr>
          <a:xfrm>
            <a:off x="136187" y="729574"/>
            <a:ext cx="95233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핵심목표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: N x Unit module 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확장 및 안정화</a:t>
            </a:r>
            <a:endParaRPr lang="en-US" altLang="ko-KR" sz="16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12B4C45-C373-EF9E-800B-246723673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50" y="1827164"/>
            <a:ext cx="2903296" cy="1649911"/>
          </a:xfrm>
          <a:prstGeom prst="rect">
            <a:avLst/>
          </a:prstGeom>
          <a:ln>
            <a:noFill/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D682DDE-BA99-C87C-73DE-F7224BA85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157" y="1827164"/>
            <a:ext cx="2800371" cy="196662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72CD127-B809-33A5-73CE-E8BD435E3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157" y="3986902"/>
            <a:ext cx="2684665" cy="81261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34FD495-527B-0B15-2C44-679E8C4B62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8957" y="1995606"/>
            <a:ext cx="2228086" cy="164991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28D0548-7D5F-ED76-46E2-5EEC889C50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0777" y="3805056"/>
            <a:ext cx="2784441" cy="70456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47CFCAE-F95C-B2C7-C00F-7D74A9E8A6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690" y="3525225"/>
            <a:ext cx="1891230" cy="1428072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77D7EF6-FE13-B847-A497-BC72C6730D96}"/>
              </a:ext>
            </a:extLst>
          </p:cNvPr>
          <p:cNvSpPr/>
          <p:nvPr/>
        </p:nvSpPr>
        <p:spPr>
          <a:xfrm>
            <a:off x="379306" y="1827164"/>
            <a:ext cx="2957281" cy="16499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242CDE2-9070-C29D-28BE-9110F4691F1A}"/>
              </a:ext>
            </a:extLst>
          </p:cNvPr>
          <p:cNvSpPr/>
          <p:nvPr/>
        </p:nvSpPr>
        <p:spPr>
          <a:xfrm>
            <a:off x="379306" y="3523590"/>
            <a:ext cx="2957281" cy="14297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2A41982-09E8-6A46-037C-F585570BB11C}"/>
              </a:ext>
            </a:extLst>
          </p:cNvPr>
          <p:cNvSpPr/>
          <p:nvPr/>
        </p:nvSpPr>
        <p:spPr>
          <a:xfrm>
            <a:off x="3492411" y="1923655"/>
            <a:ext cx="2957281" cy="17699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9E4440-FCA6-5D08-7060-9A1FE9A5A2B3}"/>
              </a:ext>
            </a:extLst>
          </p:cNvPr>
          <p:cNvSpPr/>
          <p:nvPr/>
        </p:nvSpPr>
        <p:spPr>
          <a:xfrm>
            <a:off x="3492411" y="3742010"/>
            <a:ext cx="2957281" cy="9325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B1A3343-758D-634F-B866-B5B8ABC48936}"/>
              </a:ext>
            </a:extLst>
          </p:cNvPr>
          <p:cNvSpPr/>
          <p:nvPr/>
        </p:nvSpPr>
        <p:spPr>
          <a:xfrm>
            <a:off x="6605516" y="1810798"/>
            <a:ext cx="2957281" cy="19829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3915DFD-69B2-A363-4FE8-DD6BEC467649}"/>
              </a:ext>
            </a:extLst>
          </p:cNvPr>
          <p:cNvSpPr/>
          <p:nvPr/>
        </p:nvSpPr>
        <p:spPr>
          <a:xfrm>
            <a:off x="6605516" y="3835598"/>
            <a:ext cx="2957281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810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7F50D-A3B2-7C66-4DBD-BE7E0308A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9FD63-7227-F260-E74C-A899BB75D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8B113C4-B834-4BEA-901C-8797A7F90894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D5531454-60C5-F12F-DFF6-0372BFE27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</p:spPr>
        <p:txBody>
          <a:bodyPr>
            <a:noAutofit/>
          </a:bodyPr>
          <a:lstStyle/>
          <a:p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4-5.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5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차년도 연구개발 내용 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– 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㈜두산전자사업 수지</a:t>
            </a:r>
            <a:endParaRPr lang="ko-KR" altLang="en-US" sz="18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4509C61-98B4-A98A-E321-3BE7D85A3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660516"/>
              </p:ext>
            </p:extLst>
          </p:nvPr>
        </p:nvGraphicFramePr>
        <p:xfrm>
          <a:off x="269346" y="1227666"/>
          <a:ext cx="9367308" cy="5270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22436">
                  <a:extLst>
                    <a:ext uri="{9D8B030D-6E8A-4147-A177-3AD203B41FA5}">
                      <a16:colId xmlns:a16="http://schemas.microsoft.com/office/drawing/2014/main" val="1783963196"/>
                    </a:ext>
                  </a:extLst>
                </a:gridCol>
                <a:gridCol w="3122436">
                  <a:extLst>
                    <a:ext uri="{9D8B030D-6E8A-4147-A177-3AD203B41FA5}">
                      <a16:colId xmlns:a16="http://schemas.microsoft.com/office/drawing/2014/main" val="3900016493"/>
                    </a:ext>
                  </a:extLst>
                </a:gridCol>
                <a:gridCol w="3122436">
                  <a:extLst>
                    <a:ext uri="{9D8B030D-6E8A-4147-A177-3AD203B41FA5}">
                      <a16:colId xmlns:a16="http://schemas.microsoft.com/office/drawing/2014/main" val="246426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보정 기반 채널 정합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·RF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성능 연구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및 제작 검증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환경 변화 조건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RF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성능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열 안정성 연구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다중 빔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빔조향 제어 및 시스템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통합 성능 최적화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560133"/>
                  </a:ext>
                </a:extLst>
              </a:tr>
              <a:tr h="4752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37933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201ABF9-4E21-2B14-EFB6-589359E3A39C}"/>
              </a:ext>
            </a:extLst>
          </p:cNvPr>
          <p:cNvSpPr txBox="1"/>
          <p:nvPr/>
        </p:nvSpPr>
        <p:spPr>
          <a:xfrm>
            <a:off x="329665" y="5112835"/>
            <a:ext cx="2957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캘리브레이션 및 보정 알고리즘 적용 시 채널 정합 특성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배열 확장 환경에서 위상 및 진폭 균일성 유지 특성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보정 적용 전후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RF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성능 변화 및 개선 효과 정량 분석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B4C4C0-BFA3-4BC2-7AAC-8875D6FE5FF2}"/>
              </a:ext>
            </a:extLst>
          </p:cNvPr>
          <p:cNvSpPr txBox="1"/>
          <p:nvPr/>
        </p:nvSpPr>
        <p:spPr>
          <a:xfrm>
            <a:off x="3474358" y="5112835"/>
            <a:ext cx="2957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온도 및 외부 환경 변화 조건에서 보정 적용 기반 성능 유지 특성 연구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임피던스 변화 및 채널 편차 발생 시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RF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특성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다채널 동작 시 열 분포 및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thermal coupling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특성 연구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342472-6A1E-396D-2C21-F586B042A586}"/>
              </a:ext>
            </a:extLst>
          </p:cNvPr>
          <p:cNvSpPr txBox="1"/>
          <p:nvPr/>
        </p:nvSpPr>
        <p:spPr>
          <a:xfrm>
            <a:off x="6576703" y="5112835"/>
            <a:ext cx="2957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다중 빔 생성 및 빔 전환 동작 특성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빔 조향각도 변화에 따른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RF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성능 및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EIRP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변화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대면적 배열 기반 통합시 시스템 동작 특성 연구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CDB13-5B03-4369-4614-232B9F50B108}"/>
              </a:ext>
            </a:extLst>
          </p:cNvPr>
          <p:cNvSpPr txBox="1"/>
          <p:nvPr/>
        </p:nvSpPr>
        <p:spPr>
          <a:xfrm>
            <a:off x="136187" y="729574"/>
            <a:ext cx="95233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핵심목표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: N x Unit module 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개발 및 제작 검증</a:t>
            </a:r>
            <a:endParaRPr lang="en-US" altLang="ko-KR" sz="16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C400FD-5698-DEF6-49AF-2155820C2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769" y="1913024"/>
            <a:ext cx="2251147" cy="151597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0B0DA3F-BB41-CA11-EE6F-E47AB1B0F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768" y="3522995"/>
            <a:ext cx="2251147" cy="140765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EAB1AD-668B-96D2-34E0-391BB75AB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84" y="1913024"/>
            <a:ext cx="2252410" cy="140002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70DECA8-E076-0C6C-E771-5D95A8991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84" y="3386093"/>
            <a:ext cx="2149851" cy="154455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31516A-1718-60DA-FF48-E79DC2D0B9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593" y="1913024"/>
            <a:ext cx="2791760" cy="1783058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1475BBB3-F748-214A-B70A-01C36A4F4DCB}"/>
              </a:ext>
            </a:extLst>
          </p:cNvPr>
          <p:cNvSpPr/>
          <p:nvPr/>
        </p:nvSpPr>
        <p:spPr>
          <a:xfrm>
            <a:off x="372648" y="1839981"/>
            <a:ext cx="2957281" cy="15159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B5E16A-8A8B-1957-6744-EBBC66DAE407}"/>
              </a:ext>
            </a:extLst>
          </p:cNvPr>
          <p:cNvSpPr/>
          <p:nvPr/>
        </p:nvSpPr>
        <p:spPr>
          <a:xfrm>
            <a:off x="372648" y="3381407"/>
            <a:ext cx="2957281" cy="15445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FE1471-99DA-08EE-B5BE-CCA10BBC41A3}"/>
              </a:ext>
            </a:extLst>
          </p:cNvPr>
          <p:cNvSpPr/>
          <p:nvPr/>
        </p:nvSpPr>
        <p:spPr>
          <a:xfrm>
            <a:off x="3483832" y="1836854"/>
            <a:ext cx="2957281" cy="19472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DED6F4-8788-08A2-A57E-66DF7E4E48E0}"/>
              </a:ext>
            </a:extLst>
          </p:cNvPr>
          <p:cNvSpPr/>
          <p:nvPr/>
        </p:nvSpPr>
        <p:spPr>
          <a:xfrm>
            <a:off x="6595016" y="1811222"/>
            <a:ext cx="2957281" cy="16177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B18152F-99BA-CDE9-34F4-BA0EA59CF394}"/>
              </a:ext>
            </a:extLst>
          </p:cNvPr>
          <p:cNvSpPr/>
          <p:nvPr/>
        </p:nvSpPr>
        <p:spPr>
          <a:xfrm>
            <a:off x="6595016" y="3506483"/>
            <a:ext cx="2957281" cy="14468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A932098D-5D53-BD2F-2654-F0D46800C4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7118" y="3875793"/>
            <a:ext cx="2791760" cy="960694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B4017E73-83FE-C8CC-E67F-B706BA5C4B10}"/>
              </a:ext>
            </a:extLst>
          </p:cNvPr>
          <p:cNvSpPr/>
          <p:nvPr/>
        </p:nvSpPr>
        <p:spPr>
          <a:xfrm>
            <a:off x="3483832" y="3855620"/>
            <a:ext cx="2957281" cy="10775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720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69332-72D0-70D3-BA01-7334F610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59460A-00F7-7F5B-AA06-3DC03CC1B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8B113C4-B834-4BEA-901C-8797A7F90894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D301B02C-5482-2DC2-14D4-E8EC5DD57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</p:spPr>
        <p:txBody>
          <a:bodyPr>
            <a:noAutofit/>
          </a:bodyPr>
          <a:lstStyle/>
          <a:p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4-6.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6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차년도 연구개발 내용 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– 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㈜두산전자사업 수지</a:t>
            </a:r>
            <a:endParaRPr lang="ko-KR" altLang="en-US" sz="18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1051778-460C-3908-2AA2-209CD5367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36192"/>
              </p:ext>
            </p:extLst>
          </p:nvPr>
        </p:nvGraphicFramePr>
        <p:xfrm>
          <a:off x="269346" y="1227666"/>
          <a:ext cx="9367308" cy="5270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22436">
                  <a:extLst>
                    <a:ext uri="{9D8B030D-6E8A-4147-A177-3AD203B41FA5}">
                      <a16:colId xmlns:a16="http://schemas.microsoft.com/office/drawing/2014/main" val="1783963196"/>
                    </a:ext>
                  </a:extLst>
                </a:gridCol>
                <a:gridCol w="3122436">
                  <a:extLst>
                    <a:ext uri="{9D8B030D-6E8A-4147-A177-3AD203B41FA5}">
                      <a16:colId xmlns:a16="http://schemas.microsoft.com/office/drawing/2014/main" val="3900016493"/>
                    </a:ext>
                  </a:extLst>
                </a:gridCol>
                <a:gridCol w="3122436">
                  <a:extLst>
                    <a:ext uri="{9D8B030D-6E8A-4147-A177-3AD203B41FA5}">
                      <a16:colId xmlns:a16="http://schemas.microsoft.com/office/drawing/2014/main" val="246426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레이돔 일체형 구조의 실환경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RF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특성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통합 최적화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실환경 조건 통합 시스템 안정성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빔포밍 특성 연구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SET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제조사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RFQ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대응 및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3GPP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표준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기반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Scalable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배치 연구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560133"/>
                  </a:ext>
                </a:extLst>
              </a:tr>
              <a:tr h="4752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37933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42EAAE15-6022-7CBE-51C1-000BF8544189}"/>
              </a:ext>
            </a:extLst>
          </p:cNvPr>
          <p:cNvSpPr txBox="1"/>
          <p:nvPr/>
        </p:nvSpPr>
        <p:spPr>
          <a:xfrm>
            <a:off x="329665" y="5112835"/>
            <a:ext cx="2957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레이돔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메타표면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안테나 일체형 구조에서의 전자기적 특성 연구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통합 구조 적용에 따른 주파수 응답 및 방사 특성 변화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구조 통합에 따른 손실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, coupling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및  상호 영향 매커니즘 연구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F3236D-A931-F096-CB69-457B0D5F508E}"/>
              </a:ext>
            </a:extLst>
          </p:cNvPr>
          <p:cNvSpPr txBox="1"/>
          <p:nvPr/>
        </p:nvSpPr>
        <p:spPr>
          <a:xfrm>
            <a:off x="3474358" y="5112835"/>
            <a:ext cx="2957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온도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습도 등 환경 변화 조건에서의 통합 시스템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RF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성능에 관한 연구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상부 구조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레이돔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메타표면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에 의한 빔 왜곡 및 손실 영향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환경 변화에 따른 통합 시스템 성능 안정성 및 변동 특성 연구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E29B95-3CEE-089C-34AC-0607CC9BDDB5}"/>
              </a:ext>
            </a:extLst>
          </p:cNvPr>
          <p:cNvSpPr txBox="1"/>
          <p:nvPr/>
        </p:nvSpPr>
        <p:spPr>
          <a:xfrm>
            <a:off x="6576703" y="5112835"/>
            <a:ext cx="2957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위성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NTN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통신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3GPP Rel.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기반 지상 단말 모듈 개정 표준 스펙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표준 스펙 기반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Scalable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구조 배치 연구 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F89D14-E344-5DAA-DACC-8DDFAD6F675B}"/>
              </a:ext>
            </a:extLst>
          </p:cNvPr>
          <p:cNvSpPr txBox="1"/>
          <p:nvPr/>
        </p:nvSpPr>
        <p:spPr>
          <a:xfrm>
            <a:off x="136187" y="729574"/>
            <a:ext cx="95233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핵심목표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: N x Unit module 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모듈 성능 검증 및 최적화</a:t>
            </a:r>
            <a:endParaRPr lang="en-US" altLang="ko-KR" sz="16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64BED0B-A41A-63CE-384A-2286F2E1A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21" y="1823166"/>
            <a:ext cx="2535567" cy="170652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994CA26-1F03-4F73-DCEC-32BCB60DB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48" y="3529694"/>
            <a:ext cx="1964511" cy="157592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B295400-CDF0-1802-B78A-DBDA5498C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53" y="1948470"/>
            <a:ext cx="2774979" cy="1286722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78A3B19-54AB-B1E7-7E29-A9610411BFBD}"/>
              </a:ext>
            </a:extLst>
          </p:cNvPr>
          <p:cNvSpPr/>
          <p:nvPr/>
        </p:nvSpPr>
        <p:spPr>
          <a:xfrm>
            <a:off x="349121" y="1805614"/>
            <a:ext cx="2957281" cy="1706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7B417C-16F2-EC09-42C1-4B90B5A47032}"/>
              </a:ext>
            </a:extLst>
          </p:cNvPr>
          <p:cNvSpPr/>
          <p:nvPr/>
        </p:nvSpPr>
        <p:spPr>
          <a:xfrm>
            <a:off x="349121" y="3529694"/>
            <a:ext cx="2957281" cy="16006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2B81C8A-0F8D-F3E4-8236-C0654F143751}"/>
              </a:ext>
            </a:extLst>
          </p:cNvPr>
          <p:cNvSpPr/>
          <p:nvPr/>
        </p:nvSpPr>
        <p:spPr>
          <a:xfrm>
            <a:off x="3474357" y="1823166"/>
            <a:ext cx="2957281" cy="15231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F89A49-EAF4-21F6-FF23-2FD7A13E3F52}"/>
              </a:ext>
            </a:extLst>
          </p:cNvPr>
          <p:cNvSpPr/>
          <p:nvPr/>
        </p:nvSpPr>
        <p:spPr>
          <a:xfrm>
            <a:off x="6576701" y="1823166"/>
            <a:ext cx="2957281" cy="16006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736565A-C682-0AC7-7D87-7513B35E7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7802" y="1897498"/>
            <a:ext cx="1487334" cy="133769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79A5089-7A55-2A3B-D65E-5CCB878D61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1697" y="1897498"/>
            <a:ext cx="1466810" cy="1355759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A82DB57D-9C86-3B19-3567-DBF2195D9E18}"/>
              </a:ext>
            </a:extLst>
          </p:cNvPr>
          <p:cNvSpPr/>
          <p:nvPr/>
        </p:nvSpPr>
        <p:spPr>
          <a:xfrm>
            <a:off x="3474357" y="3494059"/>
            <a:ext cx="2957281" cy="1608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3E3CDC89-08B8-425C-0E8B-C624F1AD98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7801" y="3641849"/>
            <a:ext cx="1433895" cy="1315542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8BAEF3CA-7C7E-D62A-966F-268BE242F9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4612" y="3641849"/>
            <a:ext cx="1433895" cy="1323241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55903835-00EE-C165-0E7B-D2C5CCEFBBBC}"/>
              </a:ext>
            </a:extLst>
          </p:cNvPr>
          <p:cNvSpPr/>
          <p:nvPr/>
        </p:nvSpPr>
        <p:spPr>
          <a:xfrm>
            <a:off x="6576701" y="3468000"/>
            <a:ext cx="2957281" cy="16006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4EB086C5-F17A-D2E2-5D9B-78E4F67D3F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0061" y="3618458"/>
            <a:ext cx="2790559" cy="133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83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25F7D-BB8F-C1AC-0B7F-2365BE5CC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E26BB4-DE03-1BA2-EFF4-56DF14F470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8B113C4-B834-4BEA-901C-8797A7F90894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2F299921-578A-3CA6-D6F0-0AE973CB6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</p:spPr>
        <p:txBody>
          <a:bodyPr>
            <a:noAutofit/>
          </a:bodyPr>
          <a:lstStyle/>
          <a:p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4-7.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7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차년도 연구개발 내용 </a:t>
            </a:r>
            <a:r>
              <a:rPr lang="en-US" altLang="ko-KR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– </a:t>
            </a:r>
            <a:r>
              <a:rPr lang="ko-KR" altLang="en-US" sz="1800" b="1">
                <a:latin typeface="Noto Sans KR" panose="020B0500000000000000" pitchFamily="34" charset="-127"/>
                <a:ea typeface="Noto Sans KR" panose="020B0500000000000000" pitchFamily="34" charset="-127"/>
              </a:rPr>
              <a:t>㈜두산전자사업 수지</a:t>
            </a:r>
            <a:endParaRPr lang="ko-KR" altLang="en-US" sz="18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76A7B8D-C958-69ED-671C-4CF54C3A1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368394"/>
              </p:ext>
            </p:extLst>
          </p:nvPr>
        </p:nvGraphicFramePr>
        <p:xfrm>
          <a:off x="269346" y="1227666"/>
          <a:ext cx="9367308" cy="5270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22436">
                  <a:extLst>
                    <a:ext uri="{9D8B030D-6E8A-4147-A177-3AD203B41FA5}">
                      <a16:colId xmlns:a16="http://schemas.microsoft.com/office/drawing/2014/main" val="1783963196"/>
                    </a:ext>
                  </a:extLst>
                </a:gridCol>
                <a:gridCol w="3122436">
                  <a:extLst>
                    <a:ext uri="{9D8B030D-6E8A-4147-A177-3AD203B41FA5}">
                      <a16:colId xmlns:a16="http://schemas.microsoft.com/office/drawing/2014/main" val="3900016493"/>
                    </a:ext>
                  </a:extLst>
                </a:gridCol>
                <a:gridCol w="3122436">
                  <a:extLst>
                    <a:ext uri="{9D8B030D-6E8A-4147-A177-3AD203B41FA5}">
                      <a16:colId xmlns:a16="http://schemas.microsoft.com/office/drawing/2014/main" val="246426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통합 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ESA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시스템 구성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동작 및 시스템 레벨 성능 검증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교체형 방사구조 기반 확장성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다중 빔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성능 연구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통신 성능 최적화 및 표준 라이브러리</a:t>
                      </a:r>
                      <a:endParaRPr lang="en-US" altLang="ko-KR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560133"/>
                  </a:ext>
                </a:extLst>
              </a:tr>
              <a:tr h="4752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37933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42E5A235-DC24-9025-3177-0794754541E1}"/>
              </a:ext>
            </a:extLst>
          </p:cNvPr>
          <p:cNvSpPr txBox="1"/>
          <p:nvPr/>
        </p:nvSpPr>
        <p:spPr>
          <a:xfrm>
            <a:off x="329665" y="5112835"/>
            <a:ext cx="2957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레이돔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메타표면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안테나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송수신 모듈 통합 구조의 시스템 특성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대면적 배열 기반 시스템 동작 및 안정성 특성 평가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통합 구조 기반 시스템 레벨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RF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성능 분석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A820F4-6150-96BF-4A33-CDF7A59E9514}"/>
              </a:ext>
            </a:extLst>
          </p:cNvPr>
          <p:cNvSpPr txBox="1"/>
          <p:nvPr/>
        </p:nvSpPr>
        <p:spPr>
          <a:xfrm>
            <a:off x="3474358" y="5112835"/>
            <a:ext cx="2957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상부 방사 구조 변경에 따른 주파수 응답 및 방사 특성 변화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동일 하부 송수신 모듈 기반 방사 구조 교체 시 성능 변화 평가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다중 빔 형성 및 동시 운용 시 성능 특성 분석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05DB67-D0AB-5C01-799A-1C479E69C799}"/>
              </a:ext>
            </a:extLst>
          </p:cNvPr>
          <p:cNvSpPr txBox="1"/>
          <p:nvPr/>
        </p:nvSpPr>
        <p:spPr>
          <a:xfrm>
            <a:off x="6576703" y="5112835"/>
            <a:ext cx="2957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표준 스펙 및 라이브러리 기반 사업화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Scalable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모듈 개발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시제품 모듈을 활용한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Scalable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구조 모듈 표준 라이브러리 구축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578E3-D6C6-40CE-EB51-184E57F0254E}"/>
              </a:ext>
            </a:extLst>
          </p:cNvPr>
          <p:cNvSpPr txBox="1"/>
          <p:nvPr/>
        </p:nvSpPr>
        <p:spPr>
          <a:xfrm>
            <a:off x="136187" y="729574"/>
            <a:ext cx="95233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핵심목표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송수신 모듈 환경 기반 성능 검증 및 특성 최적화</a:t>
            </a:r>
            <a:endParaRPr lang="en-US" altLang="ko-KR" sz="16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8E7156E-20D8-B9EA-96CF-EF0A65A79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32" y="1800322"/>
            <a:ext cx="2557545" cy="173253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CB9E247-89FD-82E2-DE9A-3F44606CF9BA}"/>
              </a:ext>
            </a:extLst>
          </p:cNvPr>
          <p:cNvSpPr/>
          <p:nvPr/>
        </p:nvSpPr>
        <p:spPr>
          <a:xfrm>
            <a:off x="329665" y="1802381"/>
            <a:ext cx="2957281" cy="1750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3A886F9-2F93-497B-0767-023343467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64" y="3692391"/>
            <a:ext cx="2070080" cy="14008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4EDA0EE-98A1-918D-44A7-58D272958B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4999"/>
          <a:stretch>
            <a:fillRect/>
          </a:stretch>
        </p:blipFill>
        <p:spPr>
          <a:xfrm>
            <a:off x="3604191" y="1913079"/>
            <a:ext cx="2587369" cy="124494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E602CA2-2BFC-7BF0-7CBC-4650F70ED0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285"/>
          <a:stretch>
            <a:fillRect/>
          </a:stretch>
        </p:blipFill>
        <p:spPr>
          <a:xfrm>
            <a:off x="3590995" y="3271956"/>
            <a:ext cx="2587370" cy="156635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C4E63B-3652-C88D-CF05-DAA338966772}"/>
              </a:ext>
            </a:extLst>
          </p:cNvPr>
          <p:cNvSpPr/>
          <p:nvPr/>
        </p:nvSpPr>
        <p:spPr>
          <a:xfrm>
            <a:off x="329665" y="3593226"/>
            <a:ext cx="2957281" cy="15196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2A9871-C041-EE28-779A-AFE1F19E5027}"/>
              </a:ext>
            </a:extLst>
          </p:cNvPr>
          <p:cNvSpPr/>
          <p:nvPr/>
        </p:nvSpPr>
        <p:spPr>
          <a:xfrm>
            <a:off x="3474357" y="1856018"/>
            <a:ext cx="2957281" cy="30972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9DC1088-E755-B69F-3FC5-45E2750F63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0984" y="2113918"/>
            <a:ext cx="2791753" cy="121510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2B90902-77D0-B78D-D4EA-BBCDAE5720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085" y="3593226"/>
            <a:ext cx="2679550" cy="100942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BCECC91-A8CF-8A5C-D534-FF43DA90B53A}"/>
              </a:ext>
            </a:extLst>
          </p:cNvPr>
          <p:cNvSpPr/>
          <p:nvPr/>
        </p:nvSpPr>
        <p:spPr>
          <a:xfrm>
            <a:off x="6576703" y="1856018"/>
            <a:ext cx="2957281" cy="30972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513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F39D8EE-9B14-45AC-A743-43627ED78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562201"/>
              </p:ext>
            </p:extLst>
          </p:nvPr>
        </p:nvGraphicFramePr>
        <p:xfrm>
          <a:off x="368235" y="1470377"/>
          <a:ext cx="9169559" cy="4933219"/>
        </p:xfrm>
        <a:graphic>
          <a:graphicData uri="http://schemas.openxmlformats.org/drawingml/2006/table">
            <a:tbl>
              <a:tblPr/>
              <a:tblGrid>
                <a:gridCol w="888888">
                  <a:extLst>
                    <a:ext uri="{9D8B030D-6E8A-4147-A177-3AD203B41FA5}">
                      <a16:colId xmlns:a16="http://schemas.microsoft.com/office/drawing/2014/main" val="3699530362"/>
                    </a:ext>
                  </a:extLst>
                </a:gridCol>
                <a:gridCol w="2906014">
                  <a:extLst>
                    <a:ext uri="{9D8B030D-6E8A-4147-A177-3AD203B41FA5}">
                      <a16:colId xmlns:a16="http://schemas.microsoft.com/office/drawing/2014/main" val="3273796536"/>
                    </a:ext>
                  </a:extLst>
                </a:gridCol>
                <a:gridCol w="359993">
                  <a:extLst>
                    <a:ext uri="{9D8B030D-6E8A-4147-A177-3AD203B41FA5}">
                      <a16:colId xmlns:a16="http://schemas.microsoft.com/office/drawing/2014/main" val="1252682373"/>
                    </a:ext>
                  </a:extLst>
                </a:gridCol>
                <a:gridCol w="359993">
                  <a:extLst>
                    <a:ext uri="{9D8B030D-6E8A-4147-A177-3AD203B41FA5}">
                      <a16:colId xmlns:a16="http://schemas.microsoft.com/office/drawing/2014/main" val="1299637901"/>
                    </a:ext>
                  </a:extLst>
                </a:gridCol>
                <a:gridCol w="359993">
                  <a:extLst>
                    <a:ext uri="{9D8B030D-6E8A-4147-A177-3AD203B41FA5}">
                      <a16:colId xmlns:a16="http://schemas.microsoft.com/office/drawing/2014/main" val="1150314014"/>
                    </a:ext>
                  </a:extLst>
                </a:gridCol>
                <a:gridCol w="359993">
                  <a:extLst>
                    <a:ext uri="{9D8B030D-6E8A-4147-A177-3AD203B41FA5}">
                      <a16:colId xmlns:a16="http://schemas.microsoft.com/office/drawing/2014/main" val="2179087308"/>
                    </a:ext>
                  </a:extLst>
                </a:gridCol>
                <a:gridCol w="332954">
                  <a:extLst>
                    <a:ext uri="{9D8B030D-6E8A-4147-A177-3AD203B41FA5}">
                      <a16:colId xmlns:a16="http://schemas.microsoft.com/office/drawing/2014/main" val="3298620683"/>
                    </a:ext>
                  </a:extLst>
                </a:gridCol>
                <a:gridCol w="387033">
                  <a:extLst>
                    <a:ext uri="{9D8B030D-6E8A-4147-A177-3AD203B41FA5}">
                      <a16:colId xmlns:a16="http://schemas.microsoft.com/office/drawing/2014/main" val="3016005372"/>
                    </a:ext>
                  </a:extLst>
                </a:gridCol>
                <a:gridCol w="359993">
                  <a:extLst>
                    <a:ext uri="{9D8B030D-6E8A-4147-A177-3AD203B41FA5}">
                      <a16:colId xmlns:a16="http://schemas.microsoft.com/office/drawing/2014/main" val="2470530632"/>
                    </a:ext>
                  </a:extLst>
                </a:gridCol>
                <a:gridCol w="359993">
                  <a:extLst>
                    <a:ext uri="{9D8B030D-6E8A-4147-A177-3AD203B41FA5}">
                      <a16:colId xmlns:a16="http://schemas.microsoft.com/office/drawing/2014/main" val="1481968194"/>
                    </a:ext>
                  </a:extLst>
                </a:gridCol>
                <a:gridCol w="359993">
                  <a:extLst>
                    <a:ext uri="{9D8B030D-6E8A-4147-A177-3AD203B41FA5}">
                      <a16:colId xmlns:a16="http://schemas.microsoft.com/office/drawing/2014/main" val="797900094"/>
                    </a:ext>
                  </a:extLst>
                </a:gridCol>
                <a:gridCol w="359993">
                  <a:extLst>
                    <a:ext uri="{9D8B030D-6E8A-4147-A177-3AD203B41FA5}">
                      <a16:colId xmlns:a16="http://schemas.microsoft.com/office/drawing/2014/main" val="3134778994"/>
                    </a:ext>
                  </a:extLst>
                </a:gridCol>
                <a:gridCol w="359993">
                  <a:extLst>
                    <a:ext uri="{9D8B030D-6E8A-4147-A177-3AD203B41FA5}">
                      <a16:colId xmlns:a16="http://schemas.microsoft.com/office/drawing/2014/main" val="1107882507"/>
                    </a:ext>
                  </a:extLst>
                </a:gridCol>
                <a:gridCol w="359993">
                  <a:extLst>
                    <a:ext uri="{9D8B030D-6E8A-4147-A177-3AD203B41FA5}">
                      <a16:colId xmlns:a16="http://schemas.microsoft.com/office/drawing/2014/main" val="1106601729"/>
                    </a:ext>
                  </a:extLst>
                </a:gridCol>
                <a:gridCol w="1054740">
                  <a:extLst>
                    <a:ext uri="{9D8B030D-6E8A-4147-A177-3AD203B41FA5}">
                      <a16:colId xmlns:a16="http://schemas.microsoft.com/office/drawing/2014/main" val="2020413808"/>
                    </a:ext>
                  </a:extLst>
                </a:gridCol>
              </a:tblGrid>
              <a:tr h="386161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일련</a:t>
                      </a:r>
                      <a:endParaRPr lang="ko-KR" altLang="en-US" sz="1500" b="1" kern="0" spc="-100">
                        <a:solidFill>
                          <a:schemeClr val="tx1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번호</a:t>
                      </a:r>
                      <a:endParaRPr lang="ko-KR" altLang="en-US" sz="1500" b="1" kern="0" spc="-100">
                        <a:solidFill>
                          <a:schemeClr val="tx1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개발내용</a:t>
                      </a:r>
                      <a:endParaRPr lang="ko-KR" altLang="en-US" sz="1500" b="1" kern="0" spc="-100">
                        <a:solidFill>
                          <a:schemeClr val="tx1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L="112315" marR="112315" marT="56157" marB="5615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기간</a:t>
                      </a:r>
                      <a:endParaRPr lang="ko-KR" altLang="en-US" sz="1500" b="1" kern="0" spc="-10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(</a:t>
                      </a:r>
                      <a:r>
                        <a:rPr lang="ko-KR" altLang="en-US" sz="1500" b="1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주</a:t>
                      </a:r>
                      <a:r>
                        <a:rPr lang="en-US" altLang="ko-KR" sz="1500" b="1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)</a:t>
                      </a:r>
                      <a:endParaRPr lang="ko-KR" altLang="en-US" sz="1500" b="1" kern="0" spc="-10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458151"/>
                  </a:ext>
                </a:extLst>
              </a:tr>
              <a:tr h="2740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7</a:t>
                      </a:r>
                      <a:endParaRPr lang="en-US" sz="1500" b="1" kern="0" spc="-10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8</a:t>
                      </a:r>
                      <a:endParaRPr lang="en-US" sz="1500" b="1" kern="0" spc="-10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9</a:t>
                      </a:r>
                      <a:endParaRPr lang="en-US" sz="1500" b="1" kern="0" spc="-10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10</a:t>
                      </a:r>
                      <a:endParaRPr lang="en-US" sz="1500" b="1" kern="0" spc="-10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11</a:t>
                      </a:r>
                      <a:endParaRPr lang="en-US" sz="1500" b="1" kern="0" spc="-10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12</a:t>
                      </a:r>
                      <a:endParaRPr lang="en-US" sz="1500" b="1" kern="0" spc="-10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790661"/>
                  </a:ext>
                </a:extLst>
              </a:tr>
              <a:tr h="19733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kern="0" spc="0" dirty="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</a:t>
                      </a:r>
                      <a:endParaRPr lang="en-US" sz="1500" b="0" kern="0" spc="-100" dirty="0">
                        <a:solidFill>
                          <a:schemeClr val="tx1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 dirty="0">
                          <a:solidFill>
                            <a:srgbClr val="0000FF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과제 협약</a:t>
                      </a:r>
                    </a:p>
                  </a:txBody>
                  <a:tcPr marL="112315" marR="112315" marT="56157" marB="561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8</a:t>
                      </a:r>
                      <a:endParaRPr lang="ko-KR" altLang="en-US" sz="15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176711"/>
                  </a:ext>
                </a:extLst>
              </a:tr>
              <a:tr h="197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193671"/>
                  </a:ext>
                </a:extLst>
              </a:tr>
              <a:tr h="197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428747"/>
                  </a:ext>
                </a:extLst>
              </a:tr>
              <a:tr h="19733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kern="0" spc="0" dirty="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</a:t>
                      </a:r>
                      <a:endParaRPr lang="en-US" sz="1500" b="0" kern="0" spc="-100" dirty="0">
                        <a:solidFill>
                          <a:schemeClr val="tx1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>
                          <a:solidFill>
                            <a:srgbClr val="0000FF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송수신 모듈의 회로</a:t>
                      </a:r>
                      <a:r>
                        <a:rPr lang="en-US" altLang="ko-KR" sz="1200" b="0" kern="0" spc="-100">
                          <a:solidFill>
                            <a:srgbClr val="0000FF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, </a:t>
                      </a:r>
                      <a:r>
                        <a:rPr lang="ko-KR" altLang="en-US" sz="1200" b="0" kern="0" spc="-100">
                          <a:solidFill>
                            <a:srgbClr val="0000FF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패키징</a:t>
                      </a:r>
                      <a:r>
                        <a:rPr lang="en-US" altLang="ko-KR" sz="1200" b="0" kern="0" spc="-100">
                          <a:solidFill>
                            <a:srgbClr val="0000FF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, </a:t>
                      </a:r>
                      <a:r>
                        <a:rPr lang="ko-KR" altLang="en-US" sz="1200" b="0" kern="0" spc="-100">
                          <a:solidFill>
                            <a:srgbClr val="0000FF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적층 구조를 포함한 기본 설계 완료 및 단일 채널 동작 검증</a:t>
                      </a:r>
                      <a:endParaRPr lang="ko-KR" altLang="en-US" sz="1200" b="0" kern="0" spc="-100" dirty="0">
                        <a:solidFill>
                          <a:srgbClr val="0000FF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</a:t>
                      </a:r>
                      <a:r>
                        <a:rPr lang="en-US" altLang="ko-KR" sz="1500" kern="0" spc="0" dirty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</a:t>
                      </a:r>
                      <a:endParaRPr lang="ko-KR" altLang="en-US" sz="15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4138859"/>
                  </a:ext>
                </a:extLst>
              </a:tr>
              <a:tr h="197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901645"/>
                  </a:ext>
                </a:extLst>
              </a:tr>
              <a:tr h="197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329881"/>
                  </a:ext>
                </a:extLst>
              </a:tr>
              <a:tr h="19733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kern="0" spc="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3</a:t>
                      </a:r>
                      <a:endParaRPr lang="en-US" sz="1500" b="0" kern="0" spc="-100">
                        <a:solidFill>
                          <a:schemeClr val="tx1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-100">
                          <a:solidFill>
                            <a:srgbClr val="0000FF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RF </a:t>
                      </a:r>
                      <a:r>
                        <a:rPr lang="ko-KR" altLang="en-US" sz="1200" b="0" kern="0" spc="-100">
                          <a:solidFill>
                            <a:srgbClr val="0000FF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전송 특성</a:t>
                      </a:r>
                      <a:r>
                        <a:rPr lang="en-US" altLang="ko-KR" sz="1200" b="0" kern="0" spc="-100">
                          <a:solidFill>
                            <a:srgbClr val="0000FF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, SI/PI </a:t>
                      </a:r>
                      <a:r>
                        <a:rPr lang="ko-KR" altLang="en-US" sz="1200" b="0" kern="0" spc="-100">
                          <a:solidFill>
                            <a:srgbClr val="0000FF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특성</a:t>
                      </a:r>
                      <a:r>
                        <a:rPr lang="en-US" altLang="ko-KR" sz="1200" b="0" kern="0" spc="-100">
                          <a:solidFill>
                            <a:srgbClr val="0000FF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, </a:t>
                      </a:r>
                      <a:r>
                        <a:rPr lang="ko-KR" altLang="en-US" sz="1200" b="0" kern="0" spc="-100">
                          <a:solidFill>
                            <a:srgbClr val="0000FF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쿠폰 평가 기반의 설계</a:t>
                      </a:r>
                      <a:r>
                        <a:rPr lang="en-US" altLang="ko-KR" sz="1200" b="0" kern="0" spc="-100">
                          <a:solidFill>
                            <a:srgbClr val="0000FF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200" b="0" kern="0" spc="-100">
                          <a:solidFill>
                            <a:srgbClr val="0000FF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검증 기준 확립</a:t>
                      </a:r>
                      <a:endParaRPr lang="ko-KR" altLang="en-US" sz="1200" b="0" kern="0" spc="-100" dirty="0">
                        <a:solidFill>
                          <a:srgbClr val="0000FF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</a:t>
                      </a:r>
                      <a:r>
                        <a:rPr lang="en-US" altLang="ko-KR" sz="1500" kern="0" spc="0" dirty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</a:t>
                      </a:r>
                      <a:endParaRPr lang="ko-KR" altLang="en-US" sz="15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23996"/>
                  </a:ext>
                </a:extLst>
              </a:tr>
              <a:tr h="197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1750130"/>
                  </a:ext>
                </a:extLst>
              </a:tr>
              <a:tr h="197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776633"/>
                  </a:ext>
                </a:extLst>
              </a:tr>
              <a:tr h="19733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kern="0" spc="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4</a:t>
                      </a:r>
                      <a:endParaRPr lang="en-US" sz="1500" b="0" kern="0" spc="-100">
                        <a:solidFill>
                          <a:schemeClr val="tx1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-10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Multilayer </a:t>
                      </a:r>
                      <a:r>
                        <a:rPr lang="ko-KR" altLang="en-US" sz="1200" b="0" kern="0" spc="-10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유전체를 이용한 초광대역 배열 유닛셀 설계</a:t>
                      </a:r>
                      <a:endParaRPr lang="ko-KR" altLang="en-US" sz="1200" b="0" kern="0" spc="-100" dirty="0">
                        <a:solidFill>
                          <a:schemeClr val="tx1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</a:t>
                      </a:r>
                      <a:endParaRPr lang="ko-KR" altLang="en-US" sz="15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582465"/>
                  </a:ext>
                </a:extLst>
              </a:tr>
              <a:tr h="197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520950"/>
                  </a:ext>
                </a:extLst>
              </a:tr>
              <a:tr h="197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50736"/>
                  </a:ext>
                </a:extLst>
              </a:tr>
              <a:tr h="19733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kern="0" spc="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5</a:t>
                      </a:r>
                      <a:endParaRPr lang="en-US" sz="1500" b="0" kern="0" spc="-100">
                        <a:solidFill>
                          <a:schemeClr val="tx1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유전율 분포 최적화를 이용한 유닛셀 대역폭 확장</a:t>
                      </a:r>
                      <a:endParaRPr lang="en-US" altLang="ko-KR" sz="1200" b="0" kern="0" spc="-100" dirty="0">
                        <a:solidFill>
                          <a:schemeClr val="tx1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12</a:t>
                      </a:r>
                      <a:endParaRPr lang="ko-KR" altLang="en-US" sz="15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6263740"/>
                  </a:ext>
                </a:extLst>
              </a:tr>
              <a:tr h="197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189527"/>
                  </a:ext>
                </a:extLst>
              </a:tr>
              <a:tr h="197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469176"/>
                  </a:ext>
                </a:extLst>
              </a:tr>
              <a:tr h="19733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kern="0" spc="0" dirty="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</a:t>
                      </a:r>
                      <a:endParaRPr lang="en-US" sz="1500" b="0" kern="0" spc="-100" dirty="0">
                        <a:solidFill>
                          <a:schemeClr val="tx1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-10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Anisotropic</a:t>
                      </a:r>
                      <a:r>
                        <a:rPr lang="ko-KR" altLang="en-US" sz="1200" b="0" kern="0" spc="-10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 메타표면 유닛셀 설계</a:t>
                      </a:r>
                      <a:endParaRPr lang="ko-KR" altLang="en-US" sz="1200" b="0" kern="0" spc="-100" dirty="0">
                        <a:solidFill>
                          <a:schemeClr val="tx1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</a:t>
                      </a:r>
                      <a:r>
                        <a:rPr lang="en-US" altLang="ko-KR" sz="1500" kern="0" spc="0" dirty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4</a:t>
                      </a:r>
                      <a:endParaRPr lang="ko-KR" altLang="en-US" sz="15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906192"/>
                  </a:ext>
                </a:extLst>
              </a:tr>
              <a:tr h="197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076133"/>
                  </a:ext>
                </a:extLst>
              </a:tr>
              <a:tr h="197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898374"/>
                  </a:ext>
                </a:extLst>
              </a:tr>
              <a:tr h="19733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kern="0" spc="0" dirty="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7</a:t>
                      </a:r>
                      <a:endParaRPr lang="en-US" sz="1500" b="0" kern="0" spc="-100" dirty="0">
                        <a:solidFill>
                          <a:schemeClr val="tx1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-100">
                          <a:solidFill>
                            <a:schemeClr val="tx1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방열 특성 레이돔 소재 선행 연구 조사 및 기초 열해석 기술 확보</a:t>
                      </a:r>
                      <a:endParaRPr lang="ko-KR" altLang="en-US" sz="1200" b="0" kern="0" spc="-100" dirty="0">
                        <a:solidFill>
                          <a:schemeClr val="tx1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kern="0" spc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</a:t>
                      </a:r>
                      <a:r>
                        <a:rPr lang="en-US" altLang="ko-KR" sz="1500" kern="0" spc="0" dirty="0">
                          <a:solidFill>
                            <a:srgbClr val="000000"/>
                          </a:solidFill>
                          <a:effectLst/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4</a:t>
                      </a:r>
                      <a:endParaRPr lang="ko-KR" altLang="en-US" sz="15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112315" marR="112315" marT="56157" marB="561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0958528"/>
                  </a:ext>
                </a:extLst>
              </a:tr>
              <a:tr h="197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415009"/>
                  </a:ext>
                </a:extLst>
              </a:tr>
              <a:tr h="197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1995" marR="21995" marT="21995" marB="21995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223557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9FFF0078-FA0A-4786-A2AA-BB501BE6D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06" y="111167"/>
            <a:ext cx="9367308" cy="461666"/>
          </a:xfrm>
        </p:spPr>
        <p:txBody>
          <a:bodyPr>
            <a:noAutofit/>
          </a:bodyPr>
          <a:lstStyle/>
          <a:p>
            <a:r>
              <a:rPr lang="en-US" altLang="ko-KR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4. 1</a:t>
            </a:r>
            <a:r>
              <a:rPr lang="ko-KR" altLang="en-US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차년도 진행 스케쥴 및 계획 </a:t>
            </a:r>
            <a:r>
              <a:rPr lang="en-US" altLang="ko-KR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– </a:t>
            </a:r>
            <a:r>
              <a:rPr lang="ko-KR" altLang="en-US" sz="1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㈜두산전자사업</a:t>
            </a:r>
          </a:p>
        </p:txBody>
      </p:sp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C27CFF69-AB5C-4B88-878C-021EEAD901DB}"/>
              </a:ext>
            </a:extLst>
          </p:cNvPr>
          <p:cNvSpPr/>
          <p:nvPr/>
        </p:nvSpPr>
        <p:spPr>
          <a:xfrm>
            <a:off x="378068" y="919103"/>
            <a:ext cx="3238958" cy="332887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r>
              <a:rPr lang="ko-KR" altLang="en-US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차년도</a:t>
            </a:r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5814B330-24EA-E4D4-C4FD-E2B557360C95}"/>
              </a:ext>
            </a:extLst>
          </p:cNvPr>
          <p:cNvSpPr/>
          <p:nvPr/>
        </p:nvSpPr>
        <p:spPr>
          <a:xfrm rot="10800000">
            <a:off x="5778688" y="1494133"/>
            <a:ext cx="307978" cy="22423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549D1E-2983-BD8F-4675-175E67613564}"/>
              </a:ext>
            </a:extLst>
          </p:cNvPr>
          <p:cNvSpPr txBox="1"/>
          <p:nvPr/>
        </p:nvSpPr>
        <p:spPr>
          <a:xfrm>
            <a:off x="5700088" y="1208768"/>
            <a:ext cx="4443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accent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현재</a:t>
            </a:r>
            <a:endParaRPr lang="en-US" altLang="ko-KR" sz="1100" b="1" dirty="0">
              <a:solidFill>
                <a:schemeClr val="accent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CF47663-1A2E-1817-8832-9F8B689A933F}"/>
              </a:ext>
            </a:extLst>
          </p:cNvPr>
          <p:cNvCxnSpPr>
            <a:cxnSpLocks/>
          </p:cNvCxnSpPr>
          <p:nvPr/>
        </p:nvCxnSpPr>
        <p:spPr>
          <a:xfrm>
            <a:off x="5922264" y="1676693"/>
            <a:ext cx="0" cy="4927019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416DE81-CA5E-9C44-77FF-F869DAC96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9906000" cy="365125"/>
          </a:xfrm>
        </p:spPr>
        <p:txBody>
          <a:bodyPr/>
          <a:lstStyle/>
          <a:p>
            <a:fld id="{E8B113C4-B834-4BEA-901C-8797A7F9089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825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B1F8516-63E7-DD2B-DEA4-0A6EBEB39B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346" y="2756694"/>
            <a:ext cx="9367308" cy="1344612"/>
          </a:xfrm>
        </p:spPr>
        <p:txBody>
          <a:bodyPr/>
          <a:lstStyle/>
          <a:p>
            <a:pPr algn="ctr"/>
            <a:r>
              <a:rPr lang="en-US" altLang="ko-KR" sz="4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Q&amp;A</a:t>
            </a:r>
          </a:p>
          <a:p>
            <a:pPr algn="ctr"/>
            <a:endParaRPr lang="en-US" altLang="ko-KR" sz="4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algn="ctr"/>
            <a:r>
              <a:rPr lang="ko-KR" altLang="en-US" sz="4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감사합니다</a:t>
            </a:r>
            <a:r>
              <a:rPr lang="en-US" altLang="ko-KR" sz="4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endParaRPr lang="ko-KR" altLang="en-US" sz="4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9C4A172-34FE-F00B-5098-5C1AC1D97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145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o Sans Korean">
      <a:majorFont>
        <a:latin typeface="Noto Sans Korean Light"/>
        <a:ea typeface="Noto Sans Korean Light"/>
        <a:cs typeface=""/>
      </a:majorFont>
      <a:minorFont>
        <a:latin typeface="Noto Sans Korean Regular"/>
        <a:ea typeface="Noto Sans Korea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942769F1EE1444BF92F0FA7DAA2570" ma:contentTypeVersion="16" ma:contentTypeDescription="Create a new document." ma:contentTypeScope="" ma:versionID="f1af38fe50aa41db498e886dfaa037e5">
  <xsd:schema xmlns:xsd="http://www.w3.org/2001/XMLSchema" xmlns:xs="http://www.w3.org/2001/XMLSchema" xmlns:p="http://schemas.microsoft.com/office/2006/metadata/properties" xmlns:ns2="cce584ed-2f8b-453c-89e0-f16a766d3ef3" xmlns:ns3="df572cd1-379c-436a-b635-8af8c7774edb" targetNamespace="http://schemas.microsoft.com/office/2006/metadata/properties" ma:root="true" ma:fieldsID="d14237d831749038073babb552fd1d14" ns2:_="" ns3:_="">
    <xsd:import namespace="cce584ed-2f8b-453c-89e0-f16a766d3ef3"/>
    <xsd:import namespace="df572cd1-379c-436a-b635-8af8c7774e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e584ed-2f8b-453c-89e0-f16a766d3e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8a7d0b2-06ec-47a5-9bd5-a2ea2905d2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572cd1-379c-436a-b635-8af8c7774ed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e4206665-acb6-4784-bcb9-49de9fd8f287}" ma:internalName="TaxCatchAll" ma:showField="CatchAllData" ma:web="df572cd1-379c-436a-b635-8af8c7774e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ce584ed-2f8b-453c-89e0-f16a766d3ef3">
      <Terms xmlns="http://schemas.microsoft.com/office/infopath/2007/PartnerControls"/>
    </lcf76f155ced4ddcb4097134ff3c332f>
    <TaxCatchAll xmlns="df572cd1-379c-436a-b635-8af8c7774edb" xsi:nil="true"/>
  </documentManagement>
</p:properties>
</file>

<file path=customXml/itemProps1.xml><?xml version="1.0" encoding="utf-8"?>
<ds:datastoreItem xmlns:ds="http://schemas.openxmlformats.org/officeDocument/2006/customXml" ds:itemID="{8102C61F-5DDA-4B54-BED6-2DD70149A1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32E988-C0FA-45A2-87CC-1B446BD174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e584ed-2f8b-453c-89e0-f16a766d3ef3"/>
    <ds:schemaRef ds:uri="df572cd1-379c-436a-b635-8af8c7774e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2F4ACB-17D7-44A1-BF26-887AA9CDD211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df572cd1-379c-436a-b635-8af8c7774edb"/>
    <ds:schemaRef ds:uri="http://www.w3.org/XML/1998/namespace"/>
    <ds:schemaRef ds:uri="http://schemas.openxmlformats.org/package/2006/metadata/core-properties"/>
    <ds:schemaRef ds:uri="http://purl.org/dc/terms/"/>
    <ds:schemaRef ds:uri="cce584ed-2f8b-453c-89e0-f16a766d3ef3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9537</TotalTime>
  <Words>2602</Words>
  <Application>Microsoft Office PowerPoint</Application>
  <PresentationFormat>A4 용지(210x297mm)</PresentationFormat>
  <Paragraphs>600</Paragraphs>
  <Slides>18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Noto Sans Korean Light</vt:lpstr>
      <vt:lpstr>Noto Sans Korean Regular</vt:lpstr>
      <vt:lpstr>Noto Sans KR</vt:lpstr>
      <vt:lpstr>맑은 고딕</vt:lpstr>
      <vt:lpstr>Arial</vt:lpstr>
      <vt:lpstr>Office 테마</vt:lpstr>
      <vt:lpstr>(3세부) 고출력, 광대역 특성을 갖는 레이돔 일체형 위성 통신 지상 단말국용 빔조향 송, 수신 안테나 모듈 개발</vt:lpstr>
      <vt:lpstr>목 차</vt:lpstr>
      <vt:lpstr>1. 과제 개요 및 필요성</vt:lpstr>
      <vt:lpstr>1. 과제 개요 및 필요성</vt:lpstr>
      <vt:lpstr>2. 연구 목표 및 내용</vt:lpstr>
      <vt:lpstr>2. 연구 목표 및 내용</vt:lpstr>
      <vt:lpstr>2. 연구 목표 및 내용</vt:lpstr>
      <vt:lpstr>3. 과제 추진 계획</vt:lpstr>
      <vt:lpstr>4. 연차별 개발 내용 및 주요 결과물 - ㈜두산전자사업 수지</vt:lpstr>
      <vt:lpstr>4-1. 1차년도 연구개발 내용 – ㈜두산전자사업 수지</vt:lpstr>
      <vt:lpstr>4-2. 2차년도 연구개발 내용 – ㈜두산전자사업 수지</vt:lpstr>
      <vt:lpstr>4-3. 3차년도 연구개발 내용 – ㈜두산전자사업 수지</vt:lpstr>
      <vt:lpstr>4-4. 4차년도 연구개발 내용 – ㈜두산전자사업 수지</vt:lpstr>
      <vt:lpstr>4-5. 5차년도 연구개발 내용 – ㈜두산전자사업 수지</vt:lpstr>
      <vt:lpstr>4-6. 6차년도 연구개발 내용 – ㈜두산전자사업 수지</vt:lpstr>
      <vt:lpstr>4-7. 7차년도 연구개발 내용 – ㈜두산전자사업 수지</vt:lpstr>
      <vt:lpstr>4. 1차년도 진행 스케쥴 및 계획 – ㈜두산전자사업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 재훈</dc:creator>
  <cp:lastModifiedBy>박동희(Donghee Park) 수석 (주)두산 전자BG</cp:lastModifiedBy>
  <cp:revision>46</cp:revision>
  <cp:lastPrinted>2022-08-29T10:03:07Z</cp:lastPrinted>
  <dcterms:created xsi:type="dcterms:W3CDTF">2021-12-08T06:30:13Z</dcterms:created>
  <dcterms:modified xsi:type="dcterms:W3CDTF">2026-09-11T07:51:53Z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0x0101005F942769F1EE1444BF92F0FA7DAA2570</vt:lpwstr>
  </property>
  <property fmtid="{D5CDD505-2E9C-101B-9397-08002B2CF9AE}" pid="3" name="MediaServiceImageTags">
    <vt:lpwstr/>
  </property>
</Properties>
</file>