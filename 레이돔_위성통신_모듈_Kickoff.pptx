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소재부품기술개발사업 (패키지형·슈퍼을)  /  통합형 세부과제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5F6F8"/>
                </a:solidFill>
                <a:latin typeface="맑은 고딕"/>
              </a:rPr>
              <a:t>고출력·광대역 레이돔 일체형</a:t>
            </a:r>
          </a:p>
          <a:p>
            <a:pPr algn="l">
              <a:lnSpc>
                <a:spcPct val="115000"/>
              </a:lnSpc>
            </a:pPr>
            <a:r>
              <a:rPr sz="3200" b="1">
                <a:solidFill>
                  <a:srgbClr val="F5F6F8"/>
                </a:solidFill>
                <a:latin typeface="맑은 고딕"/>
              </a:rPr>
              <a:t>위성통신 지상단말국용 빔조향 송·수신 안테나 모듈 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4BCCA"/>
                </a:solidFill>
                <a:latin typeface="맑은 고딕"/>
              </a:rPr>
              <a:t>과제번호 RS-2026-25548760   |   연구개발기간 2026.07 ~ 2032.12 (6년 6개월)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5F6F8"/>
                </a:solidFill>
                <a:latin typeface="맑은 고딕"/>
              </a:rPr>
              <a:t>착수 Kick-off Meeting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F5F6F8"/>
                </a:solidFill>
                <a:latin typeface="맑은 고딕"/>
              </a:rPr>
              <a:t>주관연구개발기관 ㈜두산전자사업 수지  ·  실무책임자 박동희 수석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BCCA"/>
                </a:solidFill>
                <a:latin typeface="맑은 고딕"/>
              </a:rPr>
              <a:t>2026. 07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발표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212080" cy="402336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5029200" cy="402336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800" b="1">
                <a:solidFill>
                  <a:srgbClr val="F5F6F8"/>
                </a:solidFill>
                <a:latin typeface="맑은 고딕"/>
              </a:rPr>
              <a:t>▸ 1.  과제 개요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800" b="1">
                <a:solidFill>
                  <a:srgbClr val="F5F6F8"/>
                </a:solidFill>
                <a:latin typeface="맑은 고딕"/>
              </a:rPr>
              <a:t>▸ 2.  추진 배경 및 필요성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800" b="1">
                <a:solidFill>
                  <a:srgbClr val="F5F6F8"/>
                </a:solidFill>
                <a:latin typeface="맑은 고딕"/>
              </a:rPr>
              <a:t>▸ 3.  최종 목표 및 핵심 개발기술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800" b="1">
                <a:solidFill>
                  <a:srgbClr val="F5F6F8"/>
                </a:solidFill>
                <a:latin typeface="맑은 고딕"/>
              </a:rPr>
              <a:t>▸ 4.  정량적 성능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800" b="1">
                <a:solidFill>
                  <a:srgbClr val="F5F6F8"/>
                </a:solidFill>
                <a:latin typeface="맑은 고딕"/>
              </a:rPr>
              <a:t>▸ 5.  연구개발 추진체계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800" b="1">
                <a:solidFill>
                  <a:srgbClr val="F5F6F8"/>
                </a:solidFill>
                <a:latin typeface="맑은 고딕"/>
              </a:rPr>
              <a:t>▸ 6.  연차별 과제 내용 (1~3단계)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800" b="1">
                <a:solidFill>
                  <a:srgbClr val="F5F6F8"/>
                </a:solidFill>
                <a:latin typeface="맑은 고딕"/>
              </a:rPr>
              <a:t>▸ 7.  기관별 과제수행 계획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800" b="1">
                <a:solidFill>
                  <a:srgbClr val="F5F6F8"/>
                </a:solidFill>
                <a:latin typeface="맑은 고딕"/>
              </a:rPr>
              <a:t>▸ 8.  1차년도 중점 추진사항 · 협의안건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과제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83080"/>
          <a:ext cx="10561320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8275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833A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8833A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5F6F8"/>
                          </a:solidFill>
                          <a:latin typeface="맑은 고딕"/>
                        </a:rPr>
                        <a:t>사업 체계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BCCA"/>
                          </a:solidFill>
                          <a:latin typeface="맑은 고딕"/>
                        </a:rPr>
                        <a:t>산업통상부 · 소재부품기술개발(패키지형/슈퍼을) · 전문기관 KIAT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5F6F8"/>
                          </a:solidFill>
                          <a:latin typeface="맑은 고딕"/>
                        </a:rPr>
                        <a:t>총괄과제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BCCA"/>
                          </a:solidFill>
                          <a:latin typeface="맑은 고딕"/>
                        </a:rPr>
                        <a:t>저유전·저손실 신소재 하이브리드 적층구조 기반 레이돔 일체형
위성통신 지상단말국 송수신 모듈 개발 (RS-2026-25548737)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5F6F8"/>
                          </a:solidFill>
                          <a:latin typeface="맑은 고딕"/>
                        </a:rPr>
                        <a:t>세부과제(본 발표)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BCCA"/>
                          </a:solidFill>
                          <a:latin typeface="맑은 고딕"/>
                        </a:rPr>
                        <a:t>고출력·광대역 레이돔 일체형 위성통신 지상단말국용
빔조향 송·수신 안테나 모듈 개발 (RS-2026-25548760)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5F6F8"/>
                          </a:solidFill>
                          <a:latin typeface="맑은 고딕"/>
                        </a:rPr>
                        <a:t>연구개발기간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BCCA"/>
                          </a:solidFill>
                          <a:latin typeface="맑은 고딕"/>
                        </a:rPr>
                        <a:t>2026.07.01 ~ 2032.12.31 (6년 6개월) · 3단계 / 7개 연차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5F6F8"/>
                          </a:solidFill>
                          <a:latin typeface="맑은 고딕"/>
                        </a:rPr>
                        <a:t>연구개발비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BCCA"/>
                          </a:solidFill>
                          <a:latin typeface="맑은 고딕"/>
                        </a:rPr>
                        <a:t>총 약 144.4억원 (정부지원 102억원, 기관부담 약 42억원)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5F6F8"/>
                          </a:solidFill>
                          <a:latin typeface="맑은 고딕"/>
                        </a:rPr>
                        <a:t>과제 유형 / TRL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BCCA"/>
                          </a:solidFill>
                          <a:latin typeface="맑은 고딕"/>
                        </a:rPr>
                        <a:t>혁신제품형 · 대형통합형 / 착수 TRL 3 → 종료 TRL 7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5F6F8"/>
                          </a:solidFill>
                          <a:latin typeface="맑은 고딕"/>
                        </a:rPr>
                        <a:t>수행기관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BCCA"/>
                          </a:solidFill>
                          <a:latin typeface="맑은 고딕"/>
                        </a:rPr>
                        <a:t>주관 ㈜두산전자사업 수지 + 공동 5개 기관 + 수요기업 ㈜알에프닛시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4BCCA"/>
                </a:solidFill>
                <a:latin typeface="맑은 고딕"/>
              </a:rPr>
              <a:t>핵심어 : Unit-Module 안테나 · LEO 위성 · 레이돔 · 메타표면 · 전자식 빔조향(ESA)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추진 배경 및 필요성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257800" cy="429768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9280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시장 · 정책 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F5F6F8"/>
                </a:solidFill>
                <a:latin typeface="맑은 고딕"/>
              </a:rPr>
              <a:t>▸ 6G 시대 지상망–위성망 통합 3차원 네트워크(NTN) 필수화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F5F6F8"/>
                </a:solidFill>
                <a:latin typeface="맑은 고딕"/>
              </a:rPr>
              <a:t>▸ LEO 위성통신 단말 시장 : '23년 64억$ → '32년 400억$ (CAGR 20%)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F5F6F8"/>
                </a:solidFill>
                <a:latin typeface="맑은 고딕"/>
              </a:rPr>
              <a:t>▸ 위성 안테나 시장 CAGR 약 11%, 부가가치 중심이 지상 단말로 이동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F5F6F8"/>
                </a:solidFill>
                <a:latin typeface="맑은 고딕"/>
              </a:rPr>
              <a:t>▸ Starlink·Kuiper 등 대규모 위성군 구축으로 단말 수요 급증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F5F6F8"/>
                </a:solidFill>
                <a:latin typeface="맑은 고딕"/>
              </a:rPr>
              <a:t>▸ 통신 주권·국방 전술통신과 직결되는 국가 전략기술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120640" cy="429768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8928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기술적 문제 및 국산화 필요성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F5F6F8"/>
                </a:solidFill>
                <a:latin typeface="맑은 고딕"/>
              </a:rPr>
              <a:t>▸ 기존 단말 : 안테나·RF·레이돔 분리구조 → 경로손실·임피던스 불연속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F5F6F8"/>
                </a:solidFill>
                <a:latin typeface="맑은 고딕"/>
              </a:rPr>
              <a:t>▸ 배열 확장 시 위상오차 누적, 발열·전력분배 한계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F5F6F8"/>
                </a:solidFill>
                <a:latin typeface="맑은 고딕"/>
              </a:rPr>
              <a:t>▸ 핵심기술(BFIC·빔포밍·패키징) 해외 의존, 공급망 리스크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F5F6F8"/>
                </a:solidFill>
                <a:latin typeface="맑은 고딕"/>
              </a:rPr>
              <a:t>▸ 글로벌 ESA 시장 80%+ 해외기업(Kymeta·Thales 등) 점유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F5F6F8"/>
                </a:solidFill>
                <a:latin typeface="맑은 고딕"/>
              </a:rPr>
              <a:t>▸ → 레이돔–메타표면–안테나–RF 통합 Full ESA 자립화 시급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최종 목표 및 핵심 개발기술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833A"/>
                </a:solidFill>
                <a:latin typeface="맑은 고딕"/>
              </a:rPr>
              <a:t>고출력·광대역 특성을 갖는 메타-레이돔 통합 송·수신 모듈 개발 (세계 최고 수준)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3429000" cy="36576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8716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9DD6"/>
                </a:solidFill>
                <a:latin typeface="맑은 고딕"/>
              </a:rPr>
              <a:t>① 안테나–RF 통합 송수신 모듈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92608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150" b="0">
                <a:solidFill>
                  <a:srgbClr val="B4BCCA"/>
                </a:solidFill>
                <a:latin typeface="맑은 고딕"/>
              </a:rPr>
              <a:t>· Tx·Rx 통합 아키텍처 / 시스템 통합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150" b="0">
                <a:solidFill>
                  <a:srgbClr val="B4BCCA"/>
                </a:solidFill>
                <a:latin typeface="맑은 고딕"/>
              </a:rPr>
              <a:t>· 열해석·SI/PI 기반 성능 최적화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150" b="0">
                <a:solidFill>
                  <a:srgbClr val="B4BCCA"/>
                </a:solidFill>
                <a:latin typeface="맑은 고딕"/>
              </a:rPr>
              <a:t>· 256ch↑ 송신 / 384ch↑ 수신급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77440"/>
            <a:ext cx="3429000" cy="36576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48716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9DD6"/>
                </a:solidFill>
                <a:latin typeface="맑은 고딕"/>
              </a:rPr>
              <a:t>② 저유전·저손실 확장형 배열구조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2608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150" b="0">
                <a:solidFill>
                  <a:srgbClr val="B4BCCA"/>
                </a:solidFill>
                <a:latin typeface="맑은 고딕"/>
              </a:rPr>
              <a:t>· 8×8 sub-array → Unit Module → N×Module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150" b="0">
                <a:solidFill>
                  <a:srgbClr val="B4BCCA"/>
                </a:solidFill>
                <a:latin typeface="맑은 고딕"/>
              </a:rPr>
              <a:t>· 고이득·광대역 커버리지 배열안테나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150" b="0">
                <a:solidFill>
                  <a:srgbClr val="B4BCCA"/>
                </a:solidFill>
                <a:latin typeface="맑은 고딕"/>
              </a:rPr>
              <a:t>· 위상/진폭 오차 보정·실시간 캘리브레이션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77440"/>
            <a:ext cx="3429000" cy="36576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48716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9DD6"/>
                </a:solidFill>
                <a:latin typeface="맑은 고딕"/>
              </a:rPr>
              <a:t>③ 빔조향 레이돔–메타표면 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92608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150" b="0">
                <a:solidFill>
                  <a:srgbClr val="B4BCCA"/>
                </a:solidFill>
                <a:latin typeface="맑은 고딕"/>
              </a:rPr>
              <a:t>· 전파 투과특성 최적화 메타표면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150" b="0">
                <a:solidFill>
                  <a:srgbClr val="B4BCCA"/>
                </a:solidFill>
                <a:latin typeface="맑은 고딕"/>
              </a:rPr>
              <a:t>· 레이돔 소재·열·환경 구조해석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150" b="0">
                <a:solidFill>
                  <a:srgbClr val="B4BCCA"/>
                </a:solidFill>
                <a:latin typeface="맑은 고딕"/>
              </a:rPr>
              <a:t>· 레이돔 일체형 방사패턴 왜곡 최소화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TARGET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정량적 성능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83080"/>
          <a:ext cx="10607040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914400"/>
                <a:gridCol w="1554480"/>
                <a:gridCol w="1417320"/>
                <a:gridCol w="1371600"/>
                <a:gridCol w="16002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평가 항목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단위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국내수준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1단계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2단계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3단계(최종)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세계최고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5F6F8"/>
                          </a:solidFill>
                          <a:latin typeface="맑은 고딕"/>
                        </a:rPr>
                        <a:t>동작주파수 Rx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GHz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17.7~21.2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18.5~20.5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18~21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17.7~21.2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동등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5F6F8"/>
                          </a:solidFill>
                          <a:latin typeface="맑은 고딕"/>
                        </a:rPr>
                        <a:t>동작주파수 Tx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GHz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27.5~31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28~30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27.5~30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27.5~31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동등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5F6F8"/>
                          </a:solidFill>
                          <a:latin typeface="맑은 고딕"/>
                        </a:rPr>
                        <a:t>배열안테나 이득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dBi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9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24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27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27 (美)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5F6F8"/>
                          </a:solidFill>
                          <a:latin typeface="맑은 고딕"/>
                        </a:rPr>
                        <a:t>빔조향 범위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deg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40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60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65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65 (美)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5F6F8"/>
                          </a:solidFill>
                          <a:latin typeface="맑은 고딕"/>
                        </a:rPr>
                        <a:t>EIRP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dBW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18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30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30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30 (美)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5F6F8"/>
                          </a:solidFill>
                          <a:latin typeface="맑은 고딕"/>
                        </a:rPr>
                        <a:t>배열 규모 (Tx)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소자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64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512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≥ 1,024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단계 확장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5F6F8"/>
                          </a:solidFill>
                          <a:latin typeface="맑은 고딕"/>
                        </a:rPr>
                        <a:t>RF 레이돔 투과손실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dB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1.5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≤ 1.0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≤ 0.7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≤ 0.5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B4BCCA"/>
                          </a:solidFill>
                          <a:latin typeface="맑은 고딕"/>
                        </a:rPr>
                        <a:t>0.2 (美)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BCCA"/>
                </a:solidFill>
                <a:latin typeface="맑은 고딕"/>
              </a:rPr>
              <a:t>평가방법 : 전 항목 공인 시험성적서 기준  ·  기준설정 근거 : Anokiwave(Qorvo)·SpaceX 등 상용 단말 벤치마킹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연구개발 추진체계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429000" cy="196596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47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BCCA"/>
                </a:solidFill>
                <a:latin typeface="맑은 고딕"/>
              </a:rPr>
              <a:t>2026~2027 (1~2차년)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F6F8"/>
                </a:solidFill>
                <a:latin typeface="맑은 고딕"/>
              </a:rPr>
              <a:t>Unit cell 설계 · 측정환경 구축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F6F8"/>
                </a:solidFill>
                <a:latin typeface="맑은 고딕"/>
              </a:rPr>
              <a:t>8×8 sub-array 확장 · 레이돔/메타표면 기본설계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429000" cy="196596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47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128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BCCA"/>
                </a:solidFill>
                <a:latin typeface="맑은 고딕"/>
              </a:rPr>
              <a:t>2028~2030 (3~5차년)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603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F6F8"/>
                </a:solidFill>
                <a:latin typeface="맑은 고딕"/>
              </a:rPr>
              <a:t>Unit Module → N×Module 스케일업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F6F8"/>
                </a:solidFill>
                <a:latin typeface="맑은 고딕"/>
              </a:rPr>
              <a:t>정밀 보정 · 자동측정 · 양산공정 설립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429000" cy="196596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47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128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BCCA"/>
                </a:solidFill>
                <a:latin typeface="맑은 고딕"/>
              </a:rPr>
              <a:t>2031~2032 (6~7차년)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603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F6F8"/>
                </a:solidFill>
                <a:latin typeface="맑은 고딕"/>
              </a:rPr>
              <a:t>실환경 성능검증 · 환경/신뢰성 평가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F6F8"/>
                </a:solidFill>
                <a:latin typeface="맑은 고딕"/>
              </a:rPr>
              <a:t>지능형 자율운용 · 사업화 Scalable 모듈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86200"/>
            <a:ext cx="10561320" cy="2194560"/>
          </a:xfrm>
          <a:prstGeom prst="roundRect">
            <a:avLst>
              <a:gd name="adj" fmla="val 4500"/>
            </a:avLst>
          </a:prstGeom>
          <a:solidFill>
            <a:srgbClr val="25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995928"/>
            <a:ext cx="10195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컨소시엄 : 주관 ㈜두산전자사업 수지 (총괄) + 공동 5 + 수요기업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3484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2000"/>
              </a:lnSpc>
              <a:spcAft>
                <a:spcPts val="600"/>
              </a:spcAft>
            </a:pPr>
            <a:r>
              <a:rPr sz="1100" b="0">
                <a:solidFill>
                  <a:srgbClr val="B4BCCA"/>
                </a:solidFill>
                <a:latin typeface="맑은 고딕"/>
              </a:rPr>
              <a:t>· KETI 한국전자기술연구원 : 빔조향 고이득 배열안테나 · 안테나 Unit Module · 캘리브레이션</a:t>
            </a:r>
          </a:p>
          <a:p>
            <a:pPr lvl="1">
              <a:lnSpc>
                <a:spcPct val="122000"/>
              </a:lnSpc>
              <a:spcAft>
                <a:spcPts val="600"/>
              </a:spcAft>
            </a:pPr>
            <a:r>
              <a:rPr sz="1100" b="0">
                <a:solidFill>
                  <a:srgbClr val="B4BCCA"/>
                </a:solidFill>
                <a:latin typeface="맑은 고딕"/>
              </a:rPr>
              <a:t>· KTL 한국산업기술시험원 : 표준·규격 분석 · NF–FF 변환 정밀측정 · 측정 불확도</a:t>
            </a:r>
          </a:p>
          <a:p>
            <a:pPr lvl="1">
              <a:lnSpc>
                <a:spcPct val="122000"/>
              </a:lnSpc>
              <a:spcAft>
                <a:spcPts val="600"/>
              </a:spcAft>
            </a:pPr>
            <a:r>
              <a:rPr sz="1100" b="0">
                <a:solidFill>
                  <a:srgbClr val="B4BCCA"/>
                </a:solidFill>
                <a:latin typeface="맑은 고딕"/>
              </a:rPr>
              <a:t>· UNIST · 국립금오공대 산학협력단 : 메타표면 유닛셀/수퍼셀 · 방열 레이돔 EM 모델링</a:t>
            </a:r>
          </a:p>
          <a:p>
            <a:pPr lvl="1">
              <a:lnSpc>
                <a:spcPct val="122000"/>
              </a:lnSpc>
              <a:spcAft>
                <a:spcPts val="600"/>
              </a:spcAft>
            </a:pPr>
            <a:r>
              <a:rPr sz="1100" b="0">
                <a:solidFill>
                  <a:srgbClr val="B4BCCA"/>
                </a:solidFill>
                <a:latin typeface="맑은 고딕"/>
              </a:rPr>
              <a:t>· ㈜알에프텍(공동·수요) : 레이돔 소재 DB·구조설계·성형/공정·양산성   |   ㈜알에프닛시 : 수요기업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ANNUAL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연차별 과제 내용 ①  1단계 (2026~2027)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257800" cy="43434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9280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1차년도 (2026, 6개월)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송수신 모듈 구조 설계 및 기본 성능기준 수립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모듈 아키텍처/버짓 설계, 단일 채널 기초 검증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단일 안테나 성능 확보 + 2×2 Unit cell 구조 설계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2×2 Unit cell 기반 메타표면(음의 굴절률) 연구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지상용 위상배열 표준·규격(ETSI/3GPP NTN) 동향 분석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방열 레이돔 소재 선행조사 · 기초 열해석 · 소재특성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120640" cy="43434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8928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2차년도 (2027)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패키징 기술 고도화 + 8×8 sub-array 개발·성능측정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Shared-aperture 안테나 구조 연구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메타표면 유닛셀 굴절률·결합 제어, 광대역 특성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위상배열 시제품 정밀 측정절차(OTA) 개발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NF–FF 변환 시스템용 도파관형 프로브 검증방법 연구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레이돔 소재 EM 모델링 · 구조(단층/다층/샌드위치)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8833A"/>
                </a:solidFill>
                <a:latin typeface="맑은 고딕"/>
              </a:rPr>
              <a:t>1단계 목표 : 기초 단위구조 설계·측정환경 구축 · 8×8 sub-array 확장 · 시제품 정밀측정 절차 확립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ANNUAL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연차별 과제 내용 ②  2단계 (2028~2030)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429000" cy="420624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9280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9DD6"/>
                </a:solidFill>
                <a:latin typeface="맑은 고딕"/>
              </a:rPr>
              <a:t>3차년도 (2028)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8×8 sub-array 기반 Unit Module 확장 설계</a:t>
            </a:r>
          </a:p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Unit module 기반 빔조향 메타표면 연구</a:t>
            </a:r>
          </a:p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평면 NF–FF 변환 정밀 측정시스템 구축</a:t>
            </a:r>
          </a:p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다층 라미네이트 레이돔 기본형상·EM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429000" cy="420624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89280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9DD6"/>
                </a:solidFill>
                <a:latin typeface="맑은 고딕"/>
              </a:rPr>
              <a:t>4차년도 (2029)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3172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N×Unit Module 확장 및 안테나 구조 안정화</a:t>
            </a:r>
          </a:p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온라인 자동보정(Self-Calibration) 루프 구현</a:t>
            </a:r>
          </a:p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NF–FF 변환 자동 측정 프로그램·통합 GUI 개발</a:t>
            </a:r>
          </a:p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다층 레이돔 등가화 유효매질 EM 모델링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29000" cy="420624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9280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9DD6"/>
                </a:solidFill>
                <a:latin typeface="맑은 고딕"/>
              </a:rPr>
              <a:t>5차년도 (2030)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33172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N×Unit Module 안테나·메타표면 제작·성능 최적화</a:t>
            </a:r>
          </a:p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통합 캘리브레이션 기법·보정모델 고도화</a:t>
            </a:r>
          </a:p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측정 불확도 예산(Budget) 개발</a:t>
            </a:r>
          </a:p>
          <a:p>
            <a:pPr lvl="1">
              <a:lnSpc>
                <a:spcPct val="122000"/>
              </a:lnSpc>
              <a:spcAft>
                <a:spcPts val="900"/>
              </a:spcAft>
            </a:pPr>
            <a:r>
              <a:rPr sz="1050" b="0">
                <a:solidFill>
                  <a:srgbClr val="B4BCCA"/>
                </a:solidFill>
                <a:latin typeface="맑은 고딕"/>
              </a:rPr>
              <a:t>· 평판형 레이돔 형상설계 · 양산성 검토·공정 설립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8833A"/>
                </a:solidFill>
                <a:latin typeface="맑은 고딕"/>
              </a:rPr>
              <a:t>2단계 목표 : Unit Module 스케일업·정밀보정 · 자동측정/빔조향 최적화 · 상용화 양산공정 설립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ANNUAL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연차별 과제 내용 ③  3단계 (2031~2032)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257800" cy="43434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9280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6차년도 (2031)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실환경 기반 N×Unit Module·메타표면 성능검증·최적화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안테나–RF 통합 모듈 OTA 측정검증 (EIRP·G/T)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환경변화 대응 실시간 캘리브레이션 기법 고도화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Adaptive 빔포밍 기반 실시간 빔조향 제어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평판형 레이돔 BSE/TL 성능 개선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3GPP Rel. 기반 개정표준 분석 · Scalable 배치 연구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120640" cy="43434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8928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7차년도 (2032)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레이돔–메타표면 통합형 N×Module 안테나 최적화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통합 위성통신 모듈 성능·신뢰성 평가 (환경시험)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지능형 자율운용 시스템 완성 · 통합 운용 GUI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개발품 Specification · QC 매뉴얼 확립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표준 스펙·라이브러리 기반 사업화 Scalable 모듈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시제품 활용 Scalable 구조 모듈 표준 라이브러리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8833A"/>
                </a:solidFill>
                <a:latin typeface="맑은 고딕"/>
              </a:rPr>
              <a:t>3단계 목표 : 실환경 통합 성능검증 · 상용화 대비 환경/신뢰성 평가체계 · 지능형 자율운용 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기관별 과제수행 계획 ①  주관기관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10561320" cy="1051560"/>
          </a:xfrm>
          <a:prstGeom prst="roundRect">
            <a:avLst>
              <a:gd name="adj" fmla="val 4500"/>
            </a:avLst>
          </a:prstGeom>
          <a:solidFill>
            <a:srgbClr val="25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4708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F6F8"/>
                </a:solidFill>
                <a:latin typeface="맑은 고딕"/>
              </a:rPr>
              <a:t>㈜두산전자사업 수지  ·  연구책임자 이영주 상무 / 실무책임자 박동희 수석  ·  참여연구자 56명  ·  약 79.8억원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과제 총괄 — 컨소시엄 조정, 일정·성능·예산 관리, 시스템 통합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위성통신 지상단말용 송·수신 모듈 설계·제작·검증 (회로·패키징·적층구조)</a:t>
            </a:r>
          </a:p>
          <a:p>
            <a:pPr lvl="1">
              <a:lnSpc>
                <a:spcPct val="122000"/>
              </a:lnSpc>
              <a:spcAft>
                <a:spcPts val="700"/>
              </a:spcAft>
            </a:pPr>
            <a:r>
              <a:rPr sz="1200" b="0">
                <a:solidFill>
                  <a:srgbClr val="B4BCCA"/>
                </a:solidFill>
                <a:latin typeface="맑은 고딕"/>
              </a:rPr>
              <a:t>· 저유전·저손실 하이브리드 PCB, 미세공정, BFIC 기반 다채널 빔포밍, SI/PI·열 통합해석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빔조향 배열안테나 구조 설계 및 성능 최적화, 빔조향 제어·캘리브레이션 기술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광대역 CP anisotropic 메타표면 설계 및 방열 레이돔 열해석·EM M&amp;S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레이돔–메타표면 통합형 고이득 안테나 구조 설계·검증, 메타레이돔 Sparsity·BSE/TL 개선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통합 위성통신 모듈 신뢰성 확보 시험절차 확립 · 사업화(SET 제조사 RFQ)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기관별 과제수행 계획 ②  공동기관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257800" cy="43434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9280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KETI 한국전자기술연구원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4BCCA"/>
                </a:solidFill>
                <a:latin typeface="맑은 고딕"/>
              </a:rPr>
              <a:t>책임 유종인 수석  ·  약 49.1억원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4892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5F6F8"/>
                </a:solidFill>
                <a:latin typeface="맑은 고딕"/>
              </a:rPr>
              <a:t>▸ 단일 안테나 → 2×2 Unit cell → 8×8 sub-array → Unit Module → N×Module 안테나 확장 설계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5F6F8"/>
                </a:solidFill>
                <a:latin typeface="맑은 고딕"/>
              </a:rPr>
              <a:t>▸ 고이득 메타표면 안테나 모듈 통합구조 및 급전계수 맵핑 빔조향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5F6F8"/>
                </a:solidFill>
                <a:latin typeface="맑은 고딕"/>
              </a:rPr>
              <a:t>▸ 계층형 빔포밍 가중치 제어 · 그룹/온라인 캘리브레이션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5F6F8"/>
                </a:solidFill>
                <a:latin typeface="맑은 고딕"/>
              </a:rPr>
              <a:t>▸ 실환경 능동 캘리브레이션·실시간 빔조향, 최종 위성통신 지상국용 안테나 모듈 개발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120640" cy="43434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8928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KTL 한국산업기술시험원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4BCCA"/>
                </a:solidFill>
                <a:latin typeface="맑은 고딕"/>
              </a:rPr>
              <a:t>책임 이재석 책임  ·  약 6.5억원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5F6F8"/>
                </a:solidFill>
                <a:latin typeface="맑은 고딕"/>
              </a:rPr>
              <a:t>▸ 지상용 위상배열 표준·규격 분석(ETSI·3GPP TS38.101-5/38.108 등) → 성능 파라미터 도출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5F6F8"/>
                </a:solidFill>
                <a:latin typeface="맑은 고딕"/>
              </a:rPr>
              <a:t>▸ 위상배열 안테나 시제품 정밀 측정절차·OTA 시험절차 개발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5F6F8"/>
                </a:solidFill>
                <a:latin typeface="맑은 고딕"/>
              </a:rPr>
              <a:t>▸ 평면 NF–FF 변환 알고리즘(FFT)·측정시스템·자동화 프로그램·역투영 알고리즘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5F6F8"/>
                </a:solidFill>
                <a:latin typeface="맑은 고딕"/>
              </a:rPr>
              <a:t>▸ 도파관형 프로브 교정법 · 측정 불확도 예산 · 통합모듈 신뢰성 평가절차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5F6F8"/>
                </a:solidFill>
                <a:latin typeface="맑은 고딕"/>
              </a:rPr>
              <a:t>▸ 산업부 산하 공공 종합시험인증기관 측정 인프라 활용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기관별 과제수행 계획 ③  공동기관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429000" cy="429768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9280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F9DD6"/>
                </a:solidFill>
                <a:latin typeface="맑은 고딕"/>
              </a:rPr>
              <a:t>UNIST 울산과학기술원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B4BCCA"/>
                </a:solidFill>
                <a:latin typeface="맑은 고딕"/>
              </a:rPr>
              <a:t>책임 변강일  ·  약 9.1억원  ·  2차년도 참여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88920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다층·비등방성 메타표면 유닛셀/수퍼셀 설계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광대역 CP·편파변환, 빔조향 메타표면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Grating lobe 억제 · 메타레이돔 Sparsity 개선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메타레이돔 통합 Sparse 배열안테나 제작·측정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429000" cy="429768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9280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F9DD6"/>
                </a:solidFill>
                <a:latin typeface="맑은 고딕"/>
              </a:rPr>
              <a:t>㈜알에프텍 (공동·수요)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B4BCCA"/>
                </a:solidFill>
                <a:latin typeface="맑은 고딕"/>
              </a:rPr>
              <a:t>책임 김성열 상무  ·  약 8.7억원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788920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레이돔 소재 전기적·기계적 특성 DB 구축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안테나–레이돔 연계 구조설계·메타표면 통합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경량·광대역·고강도 레이돔, 고정밀 성형/코팅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양산성 검토·공정 설립, 시제품·환경시험·사업화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29000" cy="429768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9280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F9DD6"/>
                </a:solidFill>
                <a:latin typeface="맑은 고딕"/>
              </a:rPr>
              <a:t>국립금오공대 산학협력단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B4BCCA"/>
                </a:solidFill>
                <a:latin typeface="맑은 고딕"/>
              </a:rPr>
              <a:t>책임 임태흥  ·  약 4.9억원  ·  2차년도 참여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788920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방열 특성 레이돔 소재 EM 모델링·성능 분석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다층 라미네이트 레이돔 형상 설계·EM 분석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등가화 기반 유효매질 EM 모델링·최적화</a:t>
            </a:r>
          </a:p>
          <a:p>
            <a:pPr lvl="1">
              <a:lnSpc>
                <a:spcPct val="122000"/>
              </a:lnSpc>
              <a:spcAft>
                <a:spcPts val="800"/>
              </a:spcAft>
            </a:pPr>
            <a:r>
              <a:rPr sz="1000" b="0">
                <a:solidFill>
                  <a:srgbClr val="B4BCCA"/>
                </a:solidFill>
                <a:latin typeface="맑은 고딕"/>
              </a:rPr>
              <a:t>· 평판형 레이돔 형상설계·열영향 분석·성능검증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기관별 역할·예산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37360"/>
          <a:ext cx="10652760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1371600"/>
                <a:gridCol w="489204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기관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핵심 역할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833A"/>
                          </a:solidFill>
                          <a:latin typeface="맑은 고딕"/>
                        </a:rPr>
                        <a:t>연구비(억원)</a:t>
                      </a:r>
                    </a:p>
                  </a:txBody>
                  <a:tcPr marL="73152" marR="54864" marT="27432" marB="27432" anchor="ctr">
                    <a:solidFill>
                      <a:srgbClr val="2530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6F8"/>
                          </a:solidFill>
                          <a:latin typeface="맑은 고딕"/>
                        </a:rPr>
                        <a:t>㈜두산전자사업 수지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주관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총괄 · 송수신 모듈 · 배열안테나 · 시스템 통합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약 79.8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6F8"/>
                          </a:solidFill>
                          <a:latin typeface="맑은 고딕"/>
                        </a:rPr>
                        <a:t>한국전자기술연구원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공동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배열안테나 Unit Module 확장 · 캘리브레이션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약 49.1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6F8"/>
                          </a:solidFill>
                          <a:latin typeface="맑은 고딕"/>
                        </a:rPr>
                        <a:t>한국산업기술시험원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공동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표준 분석 · NF–FF 정밀측정 · 불확도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약 6.5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6F8"/>
                          </a:solidFill>
                          <a:latin typeface="맑은 고딕"/>
                        </a:rPr>
                        <a:t>울산과학기술원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공동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메타표면 유닛셀/수퍼셀 · 빔조향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약 9.1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6F8"/>
                          </a:solidFill>
                          <a:latin typeface="맑은 고딕"/>
                        </a:rPr>
                        <a:t>㈜알에프텍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공동·수요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레이돔 소재·구조·성형/공정 · 양산성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약 8.7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6F8"/>
                          </a:solidFill>
                          <a:latin typeface="맑은 고딕"/>
                        </a:rPr>
                        <a:t>국립금오공대 산학협력단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공동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방열 레이돔 EM 모델링 · 평판형 레이돔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약 4.9</a:t>
                      </a:r>
                    </a:p>
                  </a:txBody>
                  <a:tcPr marL="73152" marR="54864" marT="27432" marB="27432" anchor="ctr">
                    <a:solidFill>
                      <a:srgbClr val="151B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6F8"/>
                          </a:solidFill>
                          <a:latin typeface="맑은 고딕"/>
                        </a:rPr>
                        <a:t>㈜알에프닛시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수요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수요 연계 · 사업화 요구사항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4BCCA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54864" marT="27432" marB="27432" anchor="ctr">
                    <a:solidFill>
                      <a:srgbClr val="1E273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5321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4BCCA"/>
                </a:solidFill>
                <a:latin typeface="맑은 고딕"/>
              </a:rPr>
              <a:t>연차별 정부지원금(백만원) : 1년 810 · 2년 1,230 · 3년 1,700 · 4년 1,700 · 5년 1,700 · 6년 1,530 · 7년 1,530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4BCCA"/>
                </a:solidFill>
                <a:latin typeface="맑은 고딕"/>
              </a:rPr>
              <a:t>일자리 창출 : 주관 청년 신규채용 7명(2026~2032) + 알에프텍 1명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1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33A"/>
                </a:solidFill>
                <a:latin typeface="맑은 고딕"/>
              </a:rPr>
              <a:t>KICK-OFF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6F8"/>
                </a:solidFill>
                <a:latin typeface="맑은 고딕"/>
              </a:rPr>
              <a:t>1차년도 중점 추진사항 및 협의 안건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0584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257800" cy="43434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9280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833A"/>
                </a:solidFill>
                <a:latin typeface="맑은 고딕"/>
              </a:rPr>
              <a:t>1차년도(2026.07~12) 중점 추진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모듈 아키텍처·링크버짓 확정 및 인터페이스 규격 합의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단일 채널·단일 안테나·2×2 Unit cell 설계 착수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메타표면 유닛셀 / 방열 레이돔 소재 DB 구축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표준·규격(3GPP NTN) 분석 착수, 성능목표 상세화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측정·보정 환경(OTA) 구축 준비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120640" cy="4343400"/>
          </a:xfrm>
          <a:prstGeom prst="roundRect">
            <a:avLst>
              <a:gd name="adj" fmla="val 4500"/>
            </a:avLst>
          </a:prstGeom>
          <a:solidFill>
            <a:srgbClr val="1E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8928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3C19C"/>
                </a:solidFill>
                <a:latin typeface="맑은 고딕"/>
              </a:rPr>
              <a:t>Kick-off 협의 안건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기관 간 인터페이스·데이터 규격 및 형상관리 체계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협약·연구비 집행 및 보안등급(일반) 준수사항 공유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정기 기술교류회(월 1회)·단계평가 대응 계획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시제품 제작·측정 리소스 분담 및 일정 동기화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F5F6F8"/>
                </a:solidFill>
                <a:latin typeface="맑은 고딕"/>
              </a:rPr>
              <a:t>▸ IP·표준화(대응 표준: 3GPP NTN) 공동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8833A"/>
                </a:solidFill>
                <a:latin typeface="맑은 고딕"/>
              </a:rPr>
              <a:t>기대효과 : 위성통신 단말 핵심모듈 국산화 · 수입대체 · 글로벌 공급망 진입 · 6G NTN 기술 주도권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4BCCA"/>
                </a:solidFill>
                <a:latin typeface="맑은 고딕"/>
              </a:rPr>
              <a:t>레이돔 일체형 위성통신 지상단말국 빔조향 송·수신 안테나 모듈 개발  |  Kick-off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4BCCA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